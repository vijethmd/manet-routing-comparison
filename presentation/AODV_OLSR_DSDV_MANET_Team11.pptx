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5053972-2f7a-0ea7-aa9e-60151ea3e91d}">
          <p14:sldIdLst>
            <p14:sldId id="256"/>
            <p14:sldId id="257"/>
            <p14:sldId id="258"/>
          </p14:sldIdLst>
        </p14:section>
        <p14:section name="Background" id="{0d8a437e-04aa-d3bc-b001-9836146de565}">
          <p14:sldIdLst>
            <p14:sldId id="259"/>
            <p14:sldId id="260"/>
            <p14:sldId id="261"/>
          </p14:sldIdLst>
        </p14:section>
        <p14:section name="Method" id="{6f876b68-65eb-b760-9ce1-60449cdda799}">
          <p14:sldIdLst>
            <p14:sldId id="262"/>
            <p14:sldId id="263"/>
            <p14:sldId id="264"/>
            <p14:sldId id="265"/>
          </p14:sldIdLst>
        </p14:section>
        <p14:section name="Results" id="{11022c1c-71e7-78a5-0dd1-38d669d25a80}">
          <p14:sldIdLst>
            <p14:sldId id="266"/>
            <p14:sldId id="267"/>
            <p14:sldId id="268"/>
            <p14:sldId id="269"/>
            <p14:sldId id="270"/>
            <p14:sldId id="271"/>
          </p14:sldIdLst>
        </p14:section>
        <p14:section name="Conclusion" id="{124c70ff-0124-fffc-c3b4-812ef1228d3a}">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E2A47"/>
                </a:solidFill>
                <a:latin typeface="+mn-lt"/>
              </a:defRPr>
            </a:pPr>
            <a:r>
              <a:rPr sz="1500" b="0" i="0" u="none" strike="noStrike">
                <a:solidFill>
                  <a:srgbClr val="0E2A47"/>
                </a:solidFill>
                <a:latin typeface="+mn-lt"/>
              </a:rPr>
              <a:t>Packet delivery ratio (mean of 10 runs)</a:t>
            </a:r>
          </a:p>
        </c:rich>
      </c:tx>
      <c:layout/>
      <c:overlay val="0"/>
    </c:title>
    <c:autoTitleDeleted val="0"/>
    <c:plotArea>
      <c:layout/>
      <c:lineChart>
        <c:varyColors val="0"/>
        <c:ser>
          <c:idx val="0"/>
          <c:order val="0"/>
          <c:tx>
            <c:strRef>
              <c:f>Sheet1!$B$1</c:f>
              <c:strCache>
                <c:ptCount val="1"/>
                <c:pt idx="0">
                  <c:v>AODV</c:v>
                </c:pt>
              </c:strCache>
            </c:strRef>
          </c:tx>
          <c:spPr>
            <a:solidFill>
              <a:srgbClr val="1F4E9C"/>
            </a:solidFill>
            <a:ln w="38100" cap="flat">
              <a:solidFill>
                <a:srgbClr val="1F4E9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1F4E9C"/>
              </a:solidFill>
              <a:ln w="9525" cap="flat">
                <a:solidFill>
                  <a:srgbClr val="1F4E9C"/>
                </a:solidFill>
                <a:prstDash val="solid"/>
                <a:round/>
              </a:ln>
              <a:effectLst/>
            </c:spPr>
          </c:marker>
          <c:cat>
            <c:multiLvlStrRef>
              <c:f>Sheet1!$A$2:$A$5</c:f>
              <c:multiLvlStrCache>
                <c:ptCount val="4"/>
                <c:lvl>
                  <c:pt idx="0">
                    <c:v>5</c:v>
                  </c:pt>
                  <c:pt idx="1">
                    <c:v>10</c:v>
                  </c:pt>
                  <c:pt idx="2">
                    <c:v>15</c:v>
                  </c:pt>
                  <c:pt idx="3">
                    <c:v>20</c:v>
                  </c:pt>
                </c:lvl>
              </c:multiLvlStrCache>
            </c:multiLvlStrRef>
          </c:cat>
          <c:val>
            <c:numRef>
              <c:f>Sheet1!$B$2:$B$5</c:f>
              <c:numCache>
                <c:formatCode>General</c:formatCode>
                <c:ptCount val="4"/>
                <c:pt idx="0">
                  <c:v>74.4</c:v>
                </c:pt>
                <c:pt idx="1">
                  <c:v>79.5</c:v>
                </c:pt>
                <c:pt idx="2">
                  <c:v>95.7</c:v>
                </c:pt>
                <c:pt idx="3">
                  <c:v>96.7</c:v>
                </c:pt>
              </c:numCache>
            </c:numRef>
          </c:val>
          <c:smooth val="0"/>
        </c:ser>
        <c:ser>
          <c:idx val="1"/>
          <c:order val="1"/>
          <c:tx>
            <c:strRef>
              <c:f>Sheet1!$C$1</c:f>
              <c:strCache>
                <c:ptCount val="1"/>
                <c:pt idx="0">
                  <c:v>OLSR</c:v>
                </c:pt>
              </c:strCache>
            </c:strRef>
          </c:tx>
          <c:spPr>
            <a:solidFill>
              <a:srgbClr val="C8611B"/>
            </a:solidFill>
            <a:ln w="38100" cap="flat">
              <a:solidFill>
                <a:srgbClr val="C861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C8611B"/>
              </a:solidFill>
              <a:ln w="9525" cap="flat">
                <a:solidFill>
                  <a:srgbClr val="C8611B"/>
                </a:solidFill>
                <a:prstDash val="solid"/>
                <a:round/>
              </a:ln>
              <a:effectLst/>
            </c:spPr>
          </c:marker>
          <c:cat>
            <c:multiLvlStrRef>
              <c:f>Sheet1!$A$2:$A$5</c:f>
              <c:multiLvlStrCache>
                <c:ptCount val="4"/>
                <c:lvl>
                  <c:pt idx="0">
                    <c:v>5</c:v>
                  </c:pt>
                  <c:pt idx="1">
                    <c:v>10</c:v>
                  </c:pt>
                  <c:pt idx="2">
                    <c:v>15</c:v>
                  </c:pt>
                  <c:pt idx="3">
                    <c:v>20</c:v>
                  </c:pt>
                </c:lvl>
              </c:multiLvlStrCache>
            </c:multiLvlStrRef>
          </c:cat>
          <c:val>
            <c:numRef>
              <c:f>Sheet1!$C$2:$C$5</c:f>
              <c:numCache>
                <c:formatCode>General</c:formatCode>
                <c:ptCount val="4"/>
                <c:pt idx="0">
                  <c:v>69.6</c:v>
                </c:pt>
                <c:pt idx="1">
                  <c:v>68.2</c:v>
                </c:pt>
                <c:pt idx="2">
                  <c:v>85</c:v>
                </c:pt>
                <c:pt idx="3">
                  <c:v>87.9</c:v>
                </c:pt>
              </c:numCache>
            </c:numRef>
          </c:val>
          <c:smooth val="0"/>
        </c:ser>
        <c:ser>
          <c:idx val="2"/>
          <c:order val="2"/>
          <c:tx>
            <c:strRef>
              <c:f>Sheet1!$D$1</c:f>
              <c:strCache>
                <c:ptCount val="1"/>
                <c:pt idx="0">
                  <c:v>DSDV</c:v>
                </c:pt>
              </c:strCache>
            </c:strRef>
          </c:tx>
          <c:spPr>
            <a:solidFill>
              <a:srgbClr val="2E8B57"/>
            </a:solidFill>
            <a:ln w="38100" cap="flat">
              <a:solidFill>
                <a:srgbClr val="2E8B5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2E8B57"/>
              </a:solidFill>
              <a:ln w="9525" cap="flat">
                <a:solidFill>
                  <a:srgbClr val="2E8B57"/>
                </a:solidFill>
                <a:prstDash val="solid"/>
                <a:round/>
              </a:ln>
              <a:effectLst/>
            </c:spPr>
          </c:marker>
          <c:cat>
            <c:multiLvlStrRef>
              <c:f>Sheet1!$A$2:$A$5</c:f>
              <c:multiLvlStrCache>
                <c:ptCount val="4"/>
                <c:lvl>
                  <c:pt idx="0">
                    <c:v>5</c:v>
                  </c:pt>
                  <c:pt idx="1">
                    <c:v>10</c:v>
                  </c:pt>
                  <c:pt idx="2">
                    <c:v>15</c:v>
                  </c:pt>
                  <c:pt idx="3">
                    <c:v>20</c:v>
                  </c:pt>
                </c:lvl>
              </c:multiLvlStrCache>
            </c:multiLvlStrRef>
          </c:cat>
          <c:val>
            <c:numRef>
              <c:f>Sheet1!$D$2:$D$5</c:f>
              <c:numCache>
                <c:formatCode>General</c:formatCode>
                <c:ptCount val="4"/>
                <c:pt idx="0">
                  <c:v>59.3</c:v>
                </c:pt>
                <c:pt idx="1">
                  <c:v>65.5</c:v>
                </c:pt>
                <c:pt idx="2">
                  <c:v>84.1</c:v>
                </c:pt>
                <c:pt idx="3">
                  <c:v>85.4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E6B7E"/>
                    </a:solidFill>
                    <a:latin typeface="+mn-lt"/>
                  </a:defRPr>
                </a:pPr>
                <a:r>
                  <a:rPr sz="1200" b="0" i="0" u="none" strike="noStrike">
                    <a:solidFill>
                      <a:srgbClr val="5E6B7E"/>
                    </a:solidFill>
                    <a:latin typeface="+mn-lt"/>
                  </a:rPr>
                  <a:t>Number of nodes</a:t>
                </a:r>
              </a:p>
            </c:rich>
          </c:tx>
          <c:layout/>
          <c:overlay val="0"/>
        </c:title>
        <c:numFmt formatCode="General" sourceLinked="1"/>
        <c:majorTickMark val="out"/>
        <c:minorTickMark val="none"/>
        <c:tickLblPos val="low"/>
        <c:spPr>
          <a:ln w="12700" cap="flat">
            <a:solidFill>
              <a:srgbClr val="B8C0CC"/>
            </a:solidFill>
            <a:prstDash val="solid"/>
            <a:round/>
          </a:ln>
        </c:spPr>
        <c:txPr>
          <a:bodyPr/>
          <a:lstStyle/>
          <a:p>
            <a:pPr>
              <a:defRPr sz="1200" b="0" i="0" u="none" strike="noStrike">
                <a:solidFill>
                  <a:srgbClr val="5E6B7E"/>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9DEE7"/>
              </a:solidFill>
              <a:prstDash val="solid"/>
              <a:round/>
            </a:ln>
          </c:spPr>
        </c:majorGridlines>
        <c:title>
          <c:tx>
            <c:rich>
              <a:bodyPr/>
              <a:lstStyle/>
              <a:p>
                <a:pPr>
                  <a:defRPr sz="1200" b="0" i="0" u="none" strike="noStrike">
                    <a:solidFill>
                      <a:srgbClr val="5E6B7E"/>
                    </a:solidFill>
                    <a:latin typeface="+mn-lt"/>
                  </a:defRPr>
                </a:pPr>
                <a:r>
                  <a:rPr sz="1200" b="0" i="0" u="none" strike="noStrike">
                    <a:solidFill>
                      <a:srgbClr val="5E6B7E"/>
                    </a:solidFill>
                    <a:latin typeface="+mn-lt"/>
                  </a:rPr>
                  <a:t>PDR (%)</a:t>
                </a:r>
              </a:p>
            </c:rich>
          </c:tx>
          <c:layout/>
          <c:overlay val="0"/>
        </c:title>
        <c:numFmt formatCode="General" sourceLinked="0"/>
        <c:majorTickMark val="out"/>
        <c:minorTickMark val="none"/>
        <c:tickLblPos val="nextTo"/>
        <c:spPr>
          <a:ln w="12700" cap="flat">
            <a:noFill/>
            <a:prstDash val="solid"/>
            <a:round/>
          </a:ln>
        </c:spPr>
        <c:txPr>
          <a:bodyPr/>
          <a:lstStyle/>
          <a:p>
            <a:pPr>
              <a:defRPr sz="1200" b="0" i="0" u="none" strike="noStrike">
                <a:solidFill>
                  <a:srgbClr val="5E6B7E"/>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300">
              <a:solidFill>
                <a:srgbClr val="1B22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E2A47"/>
                </a:solidFill>
                <a:latin typeface="+mn-lt"/>
              </a:defRPr>
            </a:pPr>
            <a:r>
              <a:rPr sz="1500" b="0" i="0" u="none" strike="noStrike">
                <a:solidFill>
                  <a:srgbClr val="0E2A47"/>
                </a:solidFill>
                <a:latin typeface="+mn-lt"/>
              </a:rPr>
              <a:t>Packet delivery ratio (mean of 10 runs)</a:t>
            </a:r>
          </a:p>
        </c:rich>
      </c:tx>
      <c:layout/>
      <c:overlay val="0"/>
    </c:title>
    <c:autoTitleDeleted val="0"/>
    <c:plotArea>
      <c:layout/>
      <c:lineChart>
        <c:varyColors val="0"/>
        <c:ser>
          <c:idx val="0"/>
          <c:order val="0"/>
          <c:tx>
            <c:strRef>
              <c:f>Sheet1!$B$1</c:f>
              <c:strCache>
                <c:ptCount val="1"/>
                <c:pt idx="0">
                  <c:v>AODV</c:v>
                </c:pt>
              </c:strCache>
            </c:strRef>
          </c:tx>
          <c:spPr>
            <a:solidFill>
              <a:srgbClr val="1F4E9C"/>
            </a:solidFill>
            <a:ln w="38100" cap="flat">
              <a:solidFill>
                <a:srgbClr val="1F4E9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1F4E9C"/>
              </a:solidFill>
              <a:ln w="9525" cap="flat">
                <a:solidFill>
                  <a:srgbClr val="1F4E9C"/>
                </a:solidFill>
                <a:prstDash val="solid"/>
                <a:round/>
              </a:ln>
              <a:effectLst/>
            </c:spPr>
          </c:marker>
          <c:cat>
            <c:multiLvlStrRef>
              <c:f>Sheet1!$A$2:$A$5</c:f>
              <c:multiLvlStrCache>
                <c:ptCount val="4"/>
                <c:lvl>
                  <c:pt idx="0">
                    <c:v>1</c:v>
                  </c:pt>
                  <c:pt idx="1">
                    <c:v>5</c:v>
                  </c:pt>
                  <c:pt idx="2">
                    <c:v>10</c:v>
                  </c:pt>
                  <c:pt idx="3">
                    <c:v>15</c:v>
                  </c:pt>
                </c:lvl>
              </c:multiLvlStrCache>
            </c:multiLvlStrRef>
          </c:cat>
          <c:val>
            <c:numRef>
              <c:f>Sheet1!$B$2:$B$5</c:f>
              <c:numCache>
                <c:formatCode>General</c:formatCode>
                <c:ptCount val="4"/>
                <c:pt idx="0">
                  <c:v>75.9</c:v>
                </c:pt>
                <c:pt idx="1">
                  <c:v>79.5</c:v>
                </c:pt>
                <c:pt idx="2">
                  <c:v>72.9</c:v>
                </c:pt>
                <c:pt idx="3">
                  <c:v>75.2</c:v>
                </c:pt>
              </c:numCache>
            </c:numRef>
          </c:val>
          <c:smooth val="0"/>
        </c:ser>
        <c:ser>
          <c:idx val="1"/>
          <c:order val="1"/>
          <c:tx>
            <c:strRef>
              <c:f>Sheet1!$C$1</c:f>
              <c:strCache>
                <c:ptCount val="1"/>
                <c:pt idx="0">
                  <c:v>OLSR</c:v>
                </c:pt>
              </c:strCache>
            </c:strRef>
          </c:tx>
          <c:spPr>
            <a:solidFill>
              <a:srgbClr val="C8611B"/>
            </a:solidFill>
            <a:ln w="38100" cap="flat">
              <a:solidFill>
                <a:srgbClr val="C861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C8611B"/>
              </a:solidFill>
              <a:ln w="9525" cap="flat">
                <a:solidFill>
                  <a:srgbClr val="C8611B"/>
                </a:solidFill>
                <a:prstDash val="solid"/>
                <a:round/>
              </a:ln>
              <a:effectLst/>
            </c:spPr>
          </c:marker>
          <c:cat>
            <c:multiLvlStrRef>
              <c:f>Sheet1!$A$2:$A$5</c:f>
              <c:multiLvlStrCache>
                <c:ptCount val="4"/>
                <c:lvl>
                  <c:pt idx="0">
                    <c:v>1</c:v>
                  </c:pt>
                  <c:pt idx="1">
                    <c:v>5</c:v>
                  </c:pt>
                  <c:pt idx="2">
                    <c:v>10</c:v>
                  </c:pt>
                  <c:pt idx="3">
                    <c:v>15</c:v>
                  </c:pt>
                </c:lvl>
              </c:multiLvlStrCache>
            </c:multiLvlStrRef>
          </c:cat>
          <c:val>
            <c:numRef>
              <c:f>Sheet1!$C$2:$C$5</c:f>
              <c:numCache>
                <c:formatCode>General</c:formatCode>
                <c:ptCount val="4"/>
                <c:pt idx="0">
                  <c:v>67.1</c:v>
                </c:pt>
                <c:pt idx="1">
                  <c:v>68.2</c:v>
                </c:pt>
                <c:pt idx="2">
                  <c:v>50.5</c:v>
                </c:pt>
                <c:pt idx="3">
                  <c:v>50</c:v>
                </c:pt>
              </c:numCache>
            </c:numRef>
          </c:val>
          <c:smooth val="0"/>
        </c:ser>
        <c:ser>
          <c:idx val="2"/>
          <c:order val="2"/>
          <c:tx>
            <c:strRef>
              <c:f>Sheet1!$D$1</c:f>
              <c:strCache>
                <c:ptCount val="1"/>
                <c:pt idx="0">
                  <c:v>DSDV</c:v>
                </c:pt>
              </c:strCache>
            </c:strRef>
          </c:tx>
          <c:spPr>
            <a:solidFill>
              <a:srgbClr val="2E8B57"/>
            </a:solidFill>
            <a:ln w="38100" cap="flat">
              <a:solidFill>
                <a:srgbClr val="2E8B5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2E8B57"/>
              </a:solidFill>
              <a:ln w="9525" cap="flat">
                <a:solidFill>
                  <a:srgbClr val="2E8B57"/>
                </a:solidFill>
                <a:prstDash val="solid"/>
                <a:round/>
              </a:ln>
              <a:effectLst/>
            </c:spPr>
          </c:marker>
          <c:cat>
            <c:multiLvlStrRef>
              <c:f>Sheet1!$A$2:$A$5</c:f>
              <c:multiLvlStrCache>
                <c:ptCount val="4"/>
                <c:lvl>
                  <c:pt idx="0">
                    <c:v>1</c:v>
                  </c:pt>
                  <c:pt idx="1">
                    <c:v>5</c:v>
                  </c:pt>
                  <c:pt idx="2">
                    <c:v>10</c:v>
                  </c:pt>
                  <c:pt idx="3">
                    <c:v>15</c:v>
                  </c:pt>
                </c:lvl>
              </c:multiLvlStrCache>
            </c:multiLvlStrRef>
          </c:cat>
          <c:val>
            <c:numRef>
              <c:f>Sheet1!$D$2:$D$5</c:f>
              <c:numCache>
                <c:formatCode>General</c:formatCode>
                <c:ptCount val="4"/>
                <c:pt idx="0">
                  <c:v>70.4</c:v>
                </c:pt>
                <c:pt idx="1">
                  <c:v>65.5</c:v>
                </c:pt>
                <c:pt idx="2">
                  <c:v>51</c:v>
                </c:pt>
                <c:pt idx="3">
                  <c:v>47.3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E6B7E"/>
                    </a:solidFill>
                    <a:latin typeface="+mn-lt"/>
                  </a:defRPr>
                </a:pPr>
                <a:r>
                  <a:rPr sz="1200" b="0" i="0" u="none" strike="noStrike">
                    <a:solidFill>
                      <a:srgbClr val="5E6B7E"/>
                    </a:solidFill>
                    <a:latin typeface="+mn-lt"/>
                  </a:rPr>
                  <a:t>Node speed (m/s)</a:t>
                </a:r>
              </a:p>
            </c:rich>
          </c:tx>
          <c:layout/>
          <c:overlay val="0"/>
        </c:title>
        <c:numFmt formatCode="General" sourceLinked="1"/>
        <c:majorTickMark val="out"/>
        <c:minorTickMark val="none"/>
        <c:tickLblPos val="low"/>
        <c:spPr>
          <a:ln w="12700" cap="flat">
            <a:solidFill>
              <a:srgbClr val="B8C0CC"/>
            </a:solidFill>
            <a:prstDash val="solid"/>
            <a:round/>
          </a:ln>
        </c:spPr>
        <c:txPr>
          <a:bodyPr/>
          <a:lstStyle/>
          <a:p>
            <a:pPr>
              <a:defRPr sz="1200" b="0" i="0" u="none" strike="noStrike">
                <a:solidFill>
                  <a:srgbClr val="5E6B7E"/>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9DEE7"/>
              </a:solidFill>
              <a:prstDash val="solid"/>
              <a:round/>
            </a:ln>
          </c:spPr>
        </c:majorGridlines>
        <c:title>
          <c:tx>
            <c:rich>
              <a:bodyPr/>
              <a:lstStyle/>
              <a:p>
                <a:pPr>
                  <a:defRPr sz="1200" b="0" i="0" u="none" strike="noStrike">
                    <a:solidFill>
                      <a:srgbClr val="5E6B7E"/>
                    </a:solidFill>
                    <a:latin typeface="+mn-lt"/>
                  </a:defRPr>
                </a:pPr>
                <a:r>
                  <a:rPr sz="1200" b="0" i="0" u="none" strike="noStrike">
                    <a:solidFill>
                      <a:srgbClr val="5E6B7E"/>
                    </a:solidFill>
                    <a:latin typeface="+mn-lt"/>
                  </a:rPr>
                  <a:t>PDR (%)</a:t>
                </a:r>
              </a:p>
            </c:rich>
          </c:tx>
          <c:layout/>
          <c:overlay val="0"/>
        </c:title>
        <c:numFmt formatCode="General" sourceLinked="0"/>
        <c:majorTickMark val="out"/>
        <c:minorTickMark val="none"/>
        <c:tickLblPos val="nextTo"/>
        <c:spPr>
          <a:ln w="12700" cap="flat">
            <a:noFill/>
            <a:prstDash val="solid"/>
            <a:round/>
          </a:ln>
        </c:spPr>
        <c:txPr>
          <a:bodyPr/>
          <a:lstStyle/>
          <a:p>
            <a:pPr>
              <a:defRPr sz="1200" b="0" i="0" u="none" strike="noStrike">
                <a:solidFill>
                  <a:srgbClr val="5E6B7E"/>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300">
              <a:solidFill>
                <a:srgbClr val="1B22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E2A47"/>
                </a:solidFill>
                <a:latin typeface="+mn-lt"/>
              </a:defRPr>
            </a:pPr>
            <a:r>
              <a:rPr sz="1500" b="0" i="0" u="none" strike="noStrike">
                <a:solidFill>
                  <a:srgbClr val="0E2A47"/>
                </a:solidFill>
                <a:latin typeface="+mn-lt"/>
              </a:rPr>
              <a:t>Packet delivery ratio (mean of 10 runs)</a:t>
            </a:r>
          </a:p>
        </c:rich>
      </c:tx>
      <c:layout/>
      <c:overlay val="0"/>
    </c:title>
    <c:autoTitleDeleted val="0"/>
    <c:plotArea>
      <c:layout/>
      <c:lineChart>
        <c:varyColors val="0"/>
        <c:ser>
          <c:idx val="0"/>
          <c:order val="0"/>
          <c:tx>
            <c:strRef>
              <c:f>Sheet1!$B$1</c:f>
              <c:strCache>
                <c:ptCount val="1"/>
                <c:pt idx="0">
                  <c:v>AODV</c:v>
                </c:pt>
              </c:strCache>
            </c:strRef>
          </c:tx>
          <c:spPr>
            <a:solidFill>
              <a:srgbClr val="1F4E9C"/>
            </a:solidFill>
            <a:ln w="38100" cap="flat">
              <a:solidFill>
                <a:srgbClr val="1F4E9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1F4E9C"/>
              </a:solidFill>
              <a:ln w="9525" cap="flat">
                <a:solidFill>
                  <a:srgbClr val="1F4E9C"/>
                </a:solidFill>
                <a:prstDash val="solid"/>
                <a:round/>
              </a:ln>
              <a:effectLst/>
            </c:spPr>
          </c:marker>
          <c:cat>
            <c:multiLvlStrRef>
              <c:f>Sheet1!$A$2:$A$7</c:f>
              <c:multiLvlStrCache>
                <c:ptCount val="6"/>
                <c:lvl>
                  <c:pt idx="0">
                    <c:v>10</c:v>
                  </c:pt>
                  <c:pt idx="1">
                    <c:v>50</c:v>
                  </c:pt>
                  <c:pt idx="2">
                    <c:v>100</c:v>
                  </c:pt>
                  <c:pt idx="3">
                    <c:v>200</c:v>
                  </c:pt>
                  <c:pt idx="4">
                    <c:v>400</c:v>
                  </c:pt>
                  <c:pt idx="5">
                    <c:v>800</c:v>
                  </c:pt>
                </c:lvl>
              </c:multiLvlStrCache>
            </c:multiLvlStrRef>
          </c:cat>
          <c:val>
            <c:numRef>
              <c:f>Sheet1!$B$2:$B$7</c:f>
              <c:numCache>
                <c:formatCode>General</c:formatCode>
                <c:ptCount val="6"/>
                <c:pt idx="0">
                  <c:v>79.1</c:v>
                </c:pt>
                <c:pt idx="1">
                  <c:v>78.8</c:v>
                </c:pt>
                <c:pt idx="2">
                  <c:v>78.4</c:v>
                </c:pt>
                <c:pt idx="3">
                  <c:v>77.1</c:v>
                </c:pt>
                <c:pt idx="4">
                  <c:v>71.2</c:v>
                </c:pt>
                <c:pt idx="5">
                  <c:v>57.2</c:v>
                </c:pt>
              </c:numCache>
            </c:numRef>
          </c:val>
          <c:smooth val="0"/>
        </c:ser>
        <c:ser>
          <c:idx val="1"/>
          <c:order val="1"/>
          <c:tx>
            <c:strRef>
              <c:f>Sheet1!$C$1</c:f>
              <c:strCache>
                <c:ptCount val="1"/>
                <c:pt idx="0">
                  <c:v>OLSR</c:v>
                </c:pt>
              </c:strCache>
            </c:strRef>
          </c:tx>
          <c:spPr>
            <a:solidFill>
              <a:srgbClr val="C8611B"/>
            </a:solidFill>
            <a:ln w="38100" cap="flat">
              <a:solidFill>
                <a:srgbClr val="C861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C8611B"/>
              </a:solidFill>
              <a:ln w="9525" cap="flat">
                <a:solidFill>
                  <a:srgbClr val="C8611B"/>
                </a:solidFill>
                <a:prstDash val="solid"/>
                <a:round/>
              </a:ln>
              <a:effectLst/>
            </c:spPr>
          </c:marker>
          <c:cat>
            <c:multiLvlStrRef>
              <c:f>Sheet1!$A$2:$A$7</c:f>
              <c:multiLvlStrCache>
                <c:ptCount val="6"/>
                <c:lvl>
                  <c:pt idx="0">
                    <c:v>10</c:v>
                  </c:pt>
                  <c:pt idx="1">
                    <c:v>50</c:v>
                  </c:pt>
                  <c:pt idx="2">
                    <c:v>100</c:v>
                  </c:pt>
                  <c:pt idx="3">
                    <c:v>200</c:v>
                  </c:pt>
                  <c:pt idx="4">
                    <c:v>400</c:v>
                  </c:pt>
                  <c:pt idx="5">
                    <c:v>800</c:v>
                  </c:pt>
                </c:lvl>
              </c:multiLvlStrCache>
            </c:multiLvlStrRef>
          </c:cat>
          <c:val>
            <c:numRef>
              <c:f>Sheet1!$C$2:$C$7</c:f>
              <c:numCache>
                <c:formatCode>General</c:formatCode>
                <c:ptCount val="6"/>
                <c:pt idx="0">
                  <c:v>68.3</c:v>
                </c:pt>
                <c:pt idx="1">
                  <c:v>67.7</c:v>
                </c:pt>
                <c:pt idx="2">
                  <c:v>67.5</c:v>
                </c:pt>
                <c:pt idx="3">
                  <c:v>67.2</c:v>
                </c:pt>
                <c:pt idx="4">
                  <c:v>62</c:v>
                </c:pt>
                <c:pt idx="5">
                  <c:v>49.7</c:v>
                </c:pt>
              </c:numCache>
            </c:numRef>
          </c:val>
          <c:smooth val="0"/>
        </c:ser>
        <c:ser>
          <c:idx val="2"/>
          <c:order val="2"/>
          <c:tx>
            <c:strRef>
              <c:f>Sheet1!$D$1</c:f>
              <c:strCache>
                <c:ptCount val="1"/>
                <c:pt idx="0">
                  <c:v>DSDV</c:v>
                </c:pt>
              </c:strCache>
            </c:strRef>
          </c:tx>
          <c:spPr>
            <a:solidFill>
              <a:srgbClr val="2E8B57"/>
            </a:solidFill>
            <a:ln w="38100" cap="flat">
              <a:solidFill>
                <a:srgbClr val="2E8B5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2E8B57"/>
              </a:solidFill>
              <a:ln w="9525" cap="flat">
                <a:solidFill>
                  <a:srgbClr val="2E8B57"/>
                </a:solidFill>
                <a:prstDash val="solid"/>
                <a:round/>
              </a:ln>
              <a:effectLst/>
            </c:spPr>
          </c:marker>
          <c:cat>
            <c:multiLvlStrRef>
              <c:f>Sheet1!$A$2:$A$7</c:f>
              <c:multiLvlStrCache>
                <c:ptCount val="6"/>
                <c:lvl>
                  <c:pt idx="0">
                    <c:v>10</c:v>
                  </c:pt>
                  <c:pt idx="1">
                    <c:v>50</c:v>
                  </c:pt>
                  <c:pt idx="2">
                    <c:v>100</c:v>
                  </c:pt>
                  <c:pt idx="3">
                    <c:v>200</c:v>
                  </c:pt>
                  <c:pt idx="4">
                    <c:v>400</c:v>
                  </c:pt>
                  <c:pt idx="5">
                    <c:v>800</c:v>
                  </c:pt>
                </c:lvl>
              </c:multiLvlStrCache>
            </c:multiLvlStrRef>
          </c:cat>
          <c:val>
            <c:numRef>
              <c:f>Sheet1!$D$2:$D$7</c:f>
              <c:numCache>
                <c:formatCode>General</c:formatCode>
                <c:ptCount val="6"/>
                <c:pt idx="0">
                  <c:v>69.5</c:v>
                </c:pt>
                <c:pt idx="1">
                  <c:v>66</c:v>
                </c:pt>
                <c:pt idx="2">
                  <c:v>65</c:v>
                </c:pt>
                <c:pt idx="3">
                  <c:v>65.3</c:v>
                </c:pt>
                <c:pt idx="4">
                  <c:v>62.3</c:v>
                </c:pt>
                <c:pt idx="5">
                  <c:v>53.9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E6B7E"/>
                    </a:solidFill>
                    <a:latin typeface="+mn-lt"/>
                  </a:defRPr>
                </a:pPr>
                <a:r>
                  <a:rPr sz="1200" b="0" i="0" u="none" strike="noStrike">
                    <a:solidFill>
                      <a:srgbClr val="5E6B7E"/>
                    </a:solidFill>
                    <a:latin typeface="+mn-lt"/>
                  </a:rPr>
                  <a:t>Packet rate (packets/s)</a:t>
                </a:r>
              </a:p>
            </c:rich>
          </c:tx>
          <c:layout/>
          <c:overlay val="0"/>
        </c:title>
        <c:numFmt formatCode="General" sourceLinked="1"/>
        <c:majorTickMark val="out"/>
        <c:minorTickMark val="none"/>
        <c:tickLblPos val="low"/>
        <c:spPr>
          <a:ln w="12700" cap="flat">
            <a:solidFill>
              <a:srgbClr val="B8C0CC"/>
            </a:solidFill>
            <a:prstDash val="solid"/>
            <a:round/>
          </a:ln>
        </c:spPr>
        <c:txPr>
          <a:bodyPr/>
          <a:lstStyle/>
          <a:p>
            <a:pPr>
              <a:defRPr sz="1200" b="0" i="0" u="none" strike="noStrike">
                <a:solidFill>
                  <a:srgbClr val="5E6B7E"/>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9DEE7"/>
              </a:solidFill>
              <a:prstDash val="solid"/>
              <a:round/>
            </a:ln>
          </c:spPr>
        </c:majorGridlines>
        <c:title>
          <c:tx>
            <c:rich>
              <a:bodyPr/>
              <a:lstStyle/>
              <a:p>
                <a:pPr>
                  <a:defRPr sz="1200" b="0" i="0" u="none" strike="noStrike">
                    <a:solidFill>
                      <a:srgbClr val="5E6B7E"/>
                    </a:solidFill>
                    <a:latin typeface="+mn-lt"/>
                  </a:defRPr>
                </a:pPr>
                <a:r>
                  <a:rPr sz="1200" b="0" i="0" u="none" strike="noStrike">
                    <a:solidFill>
                      <a:srgbClr val="5E6B7E"/>
                    </a:solidFill>
                    <a:latin typeface="+mn-lt"/>
                  </a:rPr>
                  <a:t>PDR (%)</a:t>
                </a:r>
              </a:p>
            </c:rich>
          </c:tx>
          <c:layout/>
          <c:overlay val="0"/>
        </c:title>
        <c:numFmt formatCode="General" sourceLinked="0"/>
        <c:majorTickMark val="out"/>
        <c:minorTickMark val="none"/>
        <c:tickLblPos val="nextTo"/>
        <c:spPr>
          <a:ln w="12700" cap="flat">
            <a:noFill/>
            <a:prstDash val="solid"/>
            <a:round/>
          </a:ln>
        </c:spPr>
        <c:txPr>
          <a:bodyPr/>
          <a:lstStyle/>
          <a:p>
            <a:pPr>
              <a:defRPr sz="1200" b="0" i="0" u="none" strike="noStrike">
                <a:solidFill>
                  <a:srgbClr val="5E6B7E"/>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300">
              <a:solidFill>
                <a:srgbClr val="1B22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E2A47"/>
                </a:solidFill>
                <a:latin typeface="+mn-lt"/>
              </a:defRPr>
            </a:pPr>
            <a:r>
              <a:rPr sz="1500" b="0" i="0" u="none" strike="noStrike">
                <a:solidFill>
                  <a:srgbClr val="0E2A47"/>
                </a:solidFill>
                <a:latin typeface="+mn-lt"/>
              </a:rPr>
              <a:t>Routing control packets per run</a:t>
            </a:r>
          </a:p>
        </c:rich>
      </c:tx>
      <c:layout/>
      <c:overlay val="0"/>
    </c:title>
    <c:autoTitleDeleted val="0"/>
    <c:plotArea>
      <c:layout/>
      <c:barChart>
        <c:barDir val="col"/>
        <c:grouping val="clustered"/>
        <c:varyColors val="0"/>
        <c:ser>
          <c:idx val="0"/>
          <c:order val="0"/>
          <c:tx>
            <c:strRef>
              <c:f>Sheet1!$B$1</c:f>
              <c:strCache>
                <c:ptCount val="1"/>
                <c:pt idx="0">
                  <c:v>AODV</c:v>
                </c:pt>
              </c:strCache>
            </c:strRef>
          </c:tx>
          <c:spPr>
            <a:solidFill>
              <a:srgbClr val="1F4E9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5</c:v>
                  </c:pt>
                  <c:pt idx="1">
                    <c:v>10</c:v>
                  </c:pt>
                  <c:pt idx="2">
                    <c:v>15</c:v>
                  </c:pt>
                  <c:pt idx="3">
                    <c:v>20</c:v>
                  </c:pt>
                </c:lvl>
              </c:multiLvlStrCache>
            </c:multiLvlStrRef>
          </c:cat>
          <c:val>
            <c:numRef>
              <c:f>Sheet1!$B$2:$B$5</c:f>
              <c:numCache>
                <c:formatCode>General</c:formatCode>
                <c:ptCount val="4"/>
                <c:pt idx="0">
                  <c:v>312.9</c:v>
                </c:pt>
                <c:pt idx="1">
                  <c:v>629.7</c:v>
                </c:pt>
                <c:pt idx="2">
                  <c:v>959.6</c:v>
                </c:pt>
                <c:pt idx="3">
                  <c:v>1248.3</c:v>
                </c:pt>
              </c:numCache>
            </c:numRef>
          </c:val>
        </c:ser>
        <c:ser>
          <c:idx val="1"/>
          <c:order val="1"/>
          <c:tx>
            <c:strRef>
              <c:f>Sheet1!$C$1</c:f>
              <c:strCache>
                <c:ptCount val="1"/>
                <c:pt idx="0">
                  <c:v>OLSR</c:v>
                </c:pt>
              </c:strCache>
            </c:strRef>
          </c:tx>
          <c:spPr>
            <a:solidFill>
              <a:srgbClr val="C8611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5</c:v>
                  </c:pt>
                  <c:pt idx="1">
                    <c:v>10</c:v>
                  </c:pt>
                  <c:pt idx="2">
                    <c:v>15</c:v>
                  </c:pt>
                  <c:pt idx="3">
                    <c:v>20</c:v>
                  </c:pt>
                </c:lvl>
              </c:multiLvlStrCache>
            </c:multiLvlStrRef>
          </c:cat>
          <c:val>
            <c:numRef>
              <c:f>Sheet1!$C$2:$C$5</c:f>
              <c:numCache>
                <c:formatCode>General</c:formatCode>
                <c:ptCount val="4"/>
                <c:pt idx="0">
                  <c:v>160.1</c:v>
                </c:pt>
                <c:pt idx="1">
                  <c:v>353.4</c:v>
                </c:pt>
                <c:pt idx="2">
                  <c:v>562</c:v>
                </c:pt>
                <c:pt idx="3">
                  <c:v>753</c:v>
                </c:pt>
              </c:numCache>
            </c:numRef>
          </c:val>
        </c:ser>
        <c:ser>
          <c:idx val="2"/>
          <c:order val="2"/>
          <c:tx>
            <c:strRef>
              <c:f>Sheet1!$D$1</c:f>
              <c:strCache>
                <c:ptCount val="1"/>
                <c:pt idx="0">
                  <c:v>DSDV</c:v>
                </c:pt>
              </c:strCache>
            </c:strRef>
          </c:tx>
          <c:spPr>
            <a:solidFill>
              <a:srgbClr val="2E8B5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5</c:v>
                  </c:pt>
                  <c:pt idx="1">
                    <c:v>10</c:v>
                  </c:pt>
                  <c:pt idx="2">
                    <c:v>15</c:v>
                  </c:pt>
                  <c:pt idx="3">
                    <c:v>20</c:v>
                  </c:pt>
                </c:lvl>
              </c:multiLvlStrCache>
            </c:multiLvlStrRef>
          </c:cat>
          <c:val>
            <c:numRef>
              <c:f>Sheet1!$D$2:$D$5</c:f>
              <c:numCache>
                <c:formatCode>General</c:formatCode>
                <c:ptCount val="4"/>
                <c:pt idx="0">
                  <c:v>68.5</c:v>
                </c:pt>
                <c:pt idx="1">
                  <c:v>324.9</c:v>
                </c:pt>
                <c:pt idx="2">
                  <c:v>842.8</c:v>
                </c:pt>
                <c:pt idx="3">
                  <c:v>1541.5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E6B7E"/>
                    </a:solidFill>
                    <a:latin typeface="+mn-lt"/>
                  </a:defRPr>
                </a:pPr>
                <a:r>
                  <a:rPr sz="1200" b="0" i="0" u="none" strike="noStrike">
                    <a:solidFill>
                      <a:srgbClr val="5E6B7E"/>
                    </a:solidFill>
                    <a:latin typeface="+mn-lt"/>
                  </a:rPr>
                  <a:t>Number of nodes</a:t>
                </a:r>
              </a:p>
            </c:rich>
          </c:tx>
          <c:layout/>
          <c:overlay val="0"/>
        </c:title>
        <c:numFmt formatCode="General" sourceLinked="1"/>
        <c:majorTickMark val="out"/>
        <c:minorTickMark val="none"/>
        <c:tickLblPos val="low"/>
        <c:spPr>
          <a:ln w="12700" cap="flat">
            <a:solidFill>
              <a:srgbClr val="B8C0CC"/>
            </a:solidFill>
            <a:prstDash val="solid"/>
            <a:round/>
          </a:ln>
        </c:spPr>
        <c:txPr>
          <a:bodyPr/>
          <a:lstStyle/>
          <a:p>
            <a:pPr>
              <a:defRPr sz="1200" b="0" i="0" u="none" strike="noStrike">
                <a:solidFill>
                  <a:srgbClr val="5E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9DE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E6B7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B22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topic: how the AODV routing protocol performs in a mobile ad hoc network, measured in the ns-3 simulator, and how it compares with two proactive protocols, OLSR and DSDV.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make MANET routing hard: partitions in sparse networks, link breaks caused by mobility, and a shared radio channel. Our three experiments vary exactly these: node density, node speed and traffic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project studied AODV alone. This version keeps that study exactly and adds the comparison with OLSR and DSDV, plus overhead and jitter.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AODV is reactive: it looks for a route only when the source has data. OLSR and DSDV are proactive: they exchange control messages all the time so routes are always in the table. Note the difference in what happens without a route: AODV and DSDV buffer the packet, OLSR drops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S broadcasts an RREQ, which floods through A and C (and also reaches B). D answers with an RREP that travels back along the reverse path. A broken link triggers an RERR and a new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shows performance depends on the scenario and that many studies are hard to repeat. We narrowed this to one gap: a reproducible, statistically reported comparison of standard AODV with proactive baselines on a current ns-3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runs the CBR client, the destination the server, and every other node only routes. A data packet goes down the source stack, across the shared channel, up to IPv4 at a relay, and up the destination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network programming core of the project. The UDP client and server, and every routing protocol, use the ns-3 socket API, which mirrors BSD sockets call for call. The main difference is event-driven reception.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experiments change one parameter at a time. Because run k uses the same positions and movement for every protocol, we can compare the protocols run by run with paired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measurement details matter. FlowMonitor ignores broadcasts, so routing overhead is counted with a packet trace on every node. And OLSR drops packets with no route before FlowMonitor sees them, so the sent count comes from the client application; otherwise OLSR's delivery ratio would be inflated.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5 to 20 nodes all protocols improve because partitions become rare. AODV is ahead at every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clearest result. AODV stays near 75% at every speed; OLSR and DSDV fall from about 70% to about 50%. The difference at 15 m/s is significant (p ≤ 0.002).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about 1.7 Mbps of offered load the network copes; above it the shared multi-hop channel congests for every protocol. AODV still delivers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AODV's reliability is paid for with overhead and delay. It sends about twice as many control packets, except at 20 nodes where DSDV sends the most. OLSR's delay is tiny because it drops packets it cannot route instead of buffering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Paired t-tests on the 13 distinct settings. AODV's delivery advantage is significant in almost every setting against OLSR and in most against DSDV.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check guards a step of the measurement chain: the regression check proves the extension did not change AODV, and the OLSR overhead check matches the protocol's timers.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AODV is the most reliable of the three in this scenario, especially under mobility, at the cost of more control traffic and delay.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2A4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704088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291840"/>
            <a:ext cx="7040880" cy="548640"/>
          </a:xfrm>
          <a:prstGeom prst="rect">
            <a:avLst/>
          </a:prstGeom>
          <a:noFill/>
          <a:ln/>
        </p:spPr>
        <p:txBody>
          <a:bodyPr wrap="square" rtlCol="0"/>
          <a:lstStyle>
            <a:lvl1pPr indent="0" marL="0">
              <a:buNone/>
              <a:defRPr lang="en-US" sz="2200" i="1" dirty="0">
                <a:solidFill>
                  <a:schemeClr val="accent6"/>
                </a:solidFill>
              </a:defRPr>
            </a:lvl1pPr>
          </a:lstStyle>
          <a:p>
            <a:pPr indent="0" marL="0">
              <a:buNone/>
            </a:pPr>
            <a:endParaRPr lang="en-US" sz="2200" dirty="0"/>
          </a:p>
        </p:txBody>
      </p:sp>
      <p:sp>
        <p:nvSpPr>
          <p:cNvPr id="4" name="Text 0"/>
          <p:cNvSpPr/>
          <p:nvPr>
            <p:ph idx="102" type="body" hasCustomPrompt="1"/>
          </p:nvPr>
        </p:nvSpPr>
        <p:spPr>
          <a:xfrm>
            <a:off x="731520" y="4206240"/>
            <a:ext cx="7498080" cy="201168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Team 11 · AODV vs OLSR vs DSDV in ns-3</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E2A4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7040880" cy="1737360"/>
          </a:xfrm>
          <a:prstGeom prst="rect">
            <a:avLst/>
          </a:prstGeom>
          <a:noFill/>
          <a:ln/>
        </p:spPr>
        <p:txBody>
          <a:bodyPr wrap="square" lIns="0" tIns="0" rIns="0" bIns="0" rtlCol="0" anchor="b"/>
          <a:lstStyle/>
          <a:p>
            <a:pPr algn="l" indent="0" marL="0">
              <a:buNone/>
            </a:pPr>
            <a:r>
              <a:rPr lang="en-US" sz="4000" b="1" dirty="0">
                <a:solidFill>
                  <a:schemeClr val="bg1"/>
                </a:solidFill>
              </a:rPr>
              <a:t>Performance Analysis of AODV in a MANET Using NS-3</a:t>
            </a:r>
            <a:endParaRPr lang="en-US" sz="4000" dirty="0"/>
          </a:p>
        </p:txBody>
      </p:sp>
      <p:sp>
        <p:nvSpPr>
          <p:cNvPr id="3" name="Text 0"/>
          <p:cNvSpPr/>
          <p:nvPr>
            <p:ph idx="101" type="body" hasCustomPrompt="1"/>
          </p:nvPr>
        </p:nvSpPr>
        <p:spPr>
          <a:xfrm>
            <a:off x="731520" y="3291840"/>
            <a:ext cx="7040880" cy="548640"/>
          </a:xfrm>
          <a:prstGeom prst="rect">
            <a:avLst/>
          </a:prstGeom>
          <a:noFill/>
          <a:ln/>
        </p:spPr>
        <p:txBody>
          <a:bodyPr wrap="square" lIns="0" tIns="0" rIns="0" bIns="0" rtlCol="0"/>
          <a:lstStyle/>
          <a:p>
            <a:pPr indent="0" marL="0">
              <a:buNone/>
            </a:pPr>
            <a:r>
              <a:rPr lang="en-US" sz="2200" i="1" dirty="0">
                <a:solidFill>
                  <a:schemeClr val="accent6"/>
                </a:solidFill>
              </a:rPr>
              <a:t>with a Comparison against OLSR and DSDV</a:t>
            </a:r>
            <a:endParaRPr lang="en-US" sz="2200" dirty="0"/>
          </a:p>
        </p:txBody>
      </p:sp>
      <p:sp>
        <p:nvSpPr>
          <p:cNvPr id="4" name="Text 0"/>
          <p:cNvSpPr/>
          <p:nvPr>
            <p:ph idx="102" type="body" hasCustomPrompt="1"/>
          </p:nvPr>
        </p:nvSpPr>
        <p:spPr>
          <a:xfrm>
            <a:off x="731520" y="4206240"/>
            <a:ext cx="7498080" cy="2011680"/>
          </a:xfrm>
          <a:prstGeom prst="rect">
            <a:avLst/>
          </a:prstGeom>
          <a:noFill/>
          <a:ln/>
        </p:spPr>
        <p:txBody>
          <a:bodyPr wrap="square" lIns="0" tIns="0" rIns="0" bIns="0" rtlCol="0" anchor="t"/>
          <a:lstStyle/>
          <a:p>
            <a:pPr indent="0" marL="0">
              <a:spcAft>
                <a:spcPts val="600"/>
              </a:spcAft>
              <a:buNone/>
            </a:pPr>
            <a:r>
              <a:rPr lang="en-US" sz="1400" b="1" dirty="0">
                <a:solidFill>
                  <a:schemeClr val="bg2"/>
                </a:solidFill>
              </a:rPr>
              <a:t>Alternate Assessment · Network Programming (23CS7PCNWP)</a:t>
            </a:r>
            <a:endParaRPr lang="en-US" sz="1400" dirty="0"/>
          </a:p>
          <a:p>
            <a:pPr indent="0" marL="0">
              <a:spcAft>
                <a:spcPts val="600"/>
              </a:spcAft>
              <a:buNone/>
            </a:pPr>
            <a:r>
              <a:rPr lang="en-US" sz="1400" dirty="0">
                <a:solidFill>
                  <a:schemeClr val="bg2"/>
                </a:solidFill>
              </a:rPr>
              <a:t>Tanmay Agarwal (1WA23CS010) · Viamrsh Buyanni (1WA23CS039)</a:t>
            </a:r>
            <a:endParaRPr lang="en-US" sz="1400" dirty="0"/>
          </a:p>
          <a:p>
            <a:pPr indent="0" marL="0">
              <a:spcAft>
                <a:spcPts val="600"/>
              </a:spcAft>
              <a:buNone/>
            </a:pPr>
            <a:r>
              <a:rPr lang="en-US" sz="1400" dirty="0">
                <a:solidFill>
                  <a:schemeClr val="bg2"/>
                </a:solidFill>
              </a:rPr>
              <a:t>Yeruva Taniya Paul (1WA23CS053) · Vijeth MD (1WA23CS041)</a:t>
            </a:r>
            <a:endParaRPr lang="en-US" sz="1400" dirty="0"/>
          </a:p>
          <a:p>
            <a:pPr indent="0" marL="0">
              <a:spcAft>
                <a:spcPts val="600"/>
              </a:spcAft>
              <a:buNone/>
            </a:pPr>
            <a:r>
              <a:rPr lang="en-US" sz="1400" dirty="0">
                <a:solidFill>
                  <a:schemeClr val="bg2"/>
                </a:solidFill>
              </a:rPr>
              <a:t>Faculty in charge: Prof. Sunayana S · Department of CSE, BMSCE</a:t>
            </a:r>
            <a:endParaRPr lang="en-US" sz="1400" dirty="0"/>
          </a:p>
        </p:txBody>
      </p:sp>
      <p:sp>
        <p:nvSpPr>
          <p:cNvPr id="5" name="link 1"/>
          <p:cNvSpPr/>
          <p:nvPr/>
        </p:nvSpPr>
        <p:spPr>
          <a:xfrm flipH="1">
            <a:off x="9308592" y="1261872"/>
            <a:ext cx="1554480" cy="365760"/>
          </a:xfrm>
          <a:prstGeom prst="line">
            <a:avLst/>
          </a:prstGeom>
          <a:noFill/>
          <a:ln w="15875">
            <a:solidFill>
              <a:schemeClr val="bg2">
                <a:alpha val="45000"/>
              </a:schemeClr>
            </a:solidFill>
            <a:prstDash val="solid"/>
          </a:ln>
        </p:spPr>
      </p:sp>
      <p:sp>
        <p:nvSpPr>
          <p:cNvPr id="6" name="link 2"/>
          <p:cNvSpPr/>
          <p:nvPr/>
        </p:nvSpPr>
        <p:spPr>
          <a:xfrm>
            <a:off x="10863072" y="1261872"/>
            <a:ext cx="640080" cy="1371600"/>
          </a:xfrm>
          <a:prstGeom prst="line">
            <a:avLst/>
          </a:prstGeom>
          <a:noFill/>
          <a:ln w="15875">
            <a:solidFill>
              <a:schemeClr val="bg2">
                <a:alpha val="45000"/>
              </a:schemeClr>
            </a:solidFill>
            <a:prstDash val="solid"/>
          </a:ln>
        </p:spPr>
      </p:sp>
      <p:sp>
        <p:nvSpPr>
          <p:cNvPr id="7" name="link 3"/>
          <p:cNvSpPr/>
          <p:nvPr/>
        </p:nvSpPr>
        <p:spPr>
          <a:xfrm>
            <a:off x="9308592" y="1627632"/>
            <a:ext cx="822960" cy="1371600"/>
          </a:xfrm>
          <a:prstGeom prst="line">
            <a:avLst/>
          </a:prstGeom>
          <a:noFill/>
          <a:ln w="15875">
            <a:solidFill>
              <a:schemeClr val="bg2">
                <a:alpha val="45000"/>
              </a:schemeClr>
            </a:solidFill>
            <a:prstDash val="solid"/>
          </a:ln>
        </p:spPr>
      </p:sp>
      <p:sp>
        <p:nvSpPr>
          <p:cNvPr id="8" name="link 4"/>
          <p:cNvSpPr/>
          <p:nvPr/>
        </p:nvSpPr>
        <p:spPr>
          <a:xfrm flipH="1">
            <a:off x="10131552" y="1261872"/>
            <a:ext cx="731520" cy="1737360"/>
          </a:xfrm>
          <a:prstGeom prst="line">
            <a:avLst/>
          </a:prstGeom>
          <a:noFill/>
          <a:ln w="15875">
            <a:solidFill>
              <a:schemeClr val="bg2">
                <a:alpha val="45000"/>
              </a:schemeClr>
            </a:solidFill>
            <a:prstDash val="solid"/>
          </a:ln>
        </p:spPr>
      </p:sp>
      <p:sp>
        <p:nvSpPr>
          <p:cNvPr id="9" name="link 5"/>
          <p:cNvSpPr/>
          <p:nvPr/>
        </p:nvSpPr>
        <p:spPr>
          <a:xfrm flipH="1">
            <a:off x="10131552" y="2633472"/>
            <a:ext cx="1371600" cy="365760"/>
          </a:xfrm>
          <a:prstGeom prst="line">
            <a:avLst/>
          </a:prstGeom>
          <a:noFill/>
          <a:ln w="15875">
            <a:solidFill>
              <a:schemeClr val="bg2">
                <a:alpha val="45000"/>
              </a:schemeClr>
            </a:solidFill>
            <a:prstDash val="solid"/>
          </a:ln>
        </p:spPr>
      </p:sp>
      <p:sp>
        <p:nvSpPr>
          <p:cNvPr id="10" name="link 6"/>
          <p:cNvSpPr/>
          <p:nvPr/>
        </p:nvSpPr>
        <p:spPr>
          <a:xfrm flipH="1">
            <a:off x="8942832" y="2999232"/>
            <a:ext cx="1188720" cy="731520"/>
          </a:xfrm>
          <a:prstGeom prst="line">
            <a:avLst/>
          </a:prstGeom>
          <a:noFill/>
          <a:ln w="15875">
            <a:solidFill>
              <a:schemeClr val="bg2">
                <a:alpha val="45000"/>
              </a:schemeClr>
            </a:solidFill>
            <a:prstDash val="solid"/>
          </a:ln>
        </p:spPr>
      </p:sp>
      <p:sp>
        <p:nvSpPr>
          <p:cNvPr id="11" name="link 7"/>
          <p:cNvSpPr/>
          <p:nvPr/>
        </p:nvSpPr>
        <p:spPr>
          <a:xfrm>
            <a:off x="10131552" y="2999232"/>
            <a:ext cx="640080" cy="1188720"/>
          </a:xfrm>
          <a:prstGeom prst="line">
            <a:avLst/>
          </a:prstGeom>
          <a:noFill/>
          <a:ln w="15875">
            <a:solidFill>
              <a:schemeClr val="bg2">
                <a:alpha val="45000"/>
              </a:schemeClr>
            </a:solidFill>
            <a:prstDash val="solid"/>
          </a:ln>
        </p:spPr>
      </p:sp>
      <p:sp>
        <p:nvSpPr>
          <p:cNvPr id="12" name="link 8"/>
          <p:cNvSpPr/>
          <p:nvPr/>
        </p:nvSpPr>
        <p:spPr>
          <a:xfrm flipH="1">
            <a:off x="10771632" y="2633472"/>
            <a:ext cx="731520" cy="1554480"/>
          </a:xfrm>
          <a:prstGeom prst="line">
            <a:avLst/>
          </a:prstGeom>
          <a:noFill/>
          <a:ln w="15875">
            <a:solidFill>
              <a:schemeClr val="bg2">
                <a:alpha val="45000"/>
              </a:schemeClr>
            </a:solidFill>
            <a:prstDash val="solid"/>
          </a:ln>
        </p:spPr>
      </p:sp>
      <p:sp>
        <p:nvSpPr>
          <p:cNvPr id="13" name="link 9"/>
          <p:cNvSpPr/>
          <p:nvPr/>
        </p:nvSpPr>
        <p:spPr>
          <a:xfrm>
            <a:off x="10771632" y="4187952"/>
            <a:ext cx="822960" cy="1097280"/>
          </a:xfrm>
          <a:prstGeom prst="line">
            <a:avLst/>
          </a:prstGeom>
          <a:noFill/>
          <a:ln w="15875">
            <a:solidFill>
              <a:schemeClr val="bg2">
                <a:alpha val="45000"/>
              </a:schemeClr>
            </a:solidFill>
            <a:prstDash val="solid"/>
          </a:ln>
        </p:spPr>
      </p:sp>
      <p:sp>
        <p:nvSpPr>
          <p:cNvPr id="14" name="link 10"/>
          <p:cNvSpPr/>
          <p:nvPr/>
        </p:nvSpPr>
        <p:spPr>
          <a:xfrm>
            <a:off x="8942832" y="3730752"/>
            <a:ext cx="731520" cy="1463040"/>
          </a:xfrm>
          <a:prstGeom prst="line">
            <a:avLst/>
          </a:prstGeom>
          <a:noFill/>
          <a:ln w="15875">
            <a:solidFill>
              <a:schemeClr val="bg2">
                <a:alpha val="45000"/>
              </a:schemeClr>
            </a:solidFill>
            <a:prstDash val="solid"/>
          </a:ln>
        </p:spPr>
      </p:sp>
      <p:sp>
        <p:nvSpPr>
          <p:cNvPr id="15" name="link 11"/>
          <p:cNvSpPr/>
          <p:nvPr/>
        </p:nvSpPr>
        <p:spPr>
          <a:xfrm flipH="1">
            <a:off x="9674352" y="4187952"/>
            <a:ext cx="1097280" cy="1005840"/>
          </a:xfrm>
          <a:prstGeom prst="line">
            <a:avLst/>
          </a:prstGeom>
          <a:noFill/>
          <a:ln w="15875">
            <a:solidFill>
              <a:schemeClr val="bg2">
                <a:alpha val="45000"/>
              </a:schemeClr>
            </a:solidFill>
            <a:prstDash val="solid"/>
          </a:ln>
        </p:spPr>
      </p:sp>
      <p:sp>
        <p:nvSpPr>
          <p:cNvPr id="16" name="node 1"/>
          <p:cNvSpPr/>
          <p:nvPr/>
        </p:nvSpPr>
        <p:spPr>
          <a:xfrm>
            <a:off x="9144000" y="1463040"/>
            <a:ext cx="329184" cy="329184"/>
          </a:xfrm>
          <a:prstGeom prst="ellipse">
            <a:avLst/>
          </a:prstGeom>
          <a:solidFill>
            <a:schemeClr val="accent1"/>
          </a:solidFill>
          <a:ln/>
        </p:spPr>
      </p:sp>
      <p:sp>
        <p:nvSpPr>
          <p:cNvPr id="17" name="node 2"/>
          <p:cNvSpPr/>
          <p:nvPr/>
        </p:nvSpPr>
        <p:spPr>
          <a:xfrm>
            <a:off x="10698480" y="1097280"/>
            <a:ext cx="329184" cy="329184"/>
          </a:xfrm>
          <a:prstGeom prst="ellipse">
            <a:avLst/>
          </a:prstGeom>
          <a:solidFill>
            <a:schemeClr val="bg2"/>
          </a:solidFill>
          <a:ln/>
        </p:spPr>
      </p:sp>
      <p:sp>
        <p:nvSpPr>
          <p:cNvPr id="18" name="node 3"/>
          <p:cNvSpPr/>
          <p:nvPr/>
        </p:nvSpPr>
        <p:spPr>
          <a:xfrm>
            <a:off x="11338560" y="2468880"/>
            <a:ext cx="329184" cy="329184"/>
          </a:xfrm>
          <a:prstGeom prst="ellipse">
            <a:avLst/>
          </a:prstGeom>
          <a:solidFill>
            <a:schemeClr val="bg2"/>
          </a:solidFill>
          <a:ln/>
        </p:spPr>
      </p:sp>
      <p:sp>
        <p:nvSpPr>
          <p:cNvPr id="19" name="node 4"/>
          <p:cNvSpPr/>
          <p:nvPr/>
        </p:nvSpPr>
        <p:spPr>
          <a:xfrm>
            <a:off x="9966960" y="2834640"/>
            <a:ext cx="329184" cy="329184"/>
          </a:xfrm>
          <a:prstGeom prst="ellipse">
            <a:avLst/>
          </a:prstGeom>
          <a:solidFill>
            <a:schemeClr val="bg2"/>
          </a:solidFill>
          <a:ln/>
        </p:spPr>
      </p:sp>
      <p:sp>
        <p:nvSpPr>
          <p:cNvPr id="20" name="node 5"/>
          <p:cNvSpPr/>
          <p:nvPr/>
        </p:nvSpPr>
        <p:spPr>
          <a:xfrm>
            <a:off x="8778240" y="3566160"/>
            <a:ext cx="329184" cy="329184"/>
          </a:xfrm>
          <a:prstGeom prst="ellipse">
            <a:avLst/>
          </a:prstGeom>
          <a:solidFill>
            <a:schemeClr val="bg2"/>
          </a:solidFill>
          <a:ln/>
        </p:spPr>
      </p:sp>
      <p:sp>
        <p:nvSpPr>
          <p:cNvPr id="21" name="node 6"/>
          <p:cNvSpPr/>
          <p:nvPr/>
        </p:nvSpPr>
        <p:spPr>
          <a:xfrm>
            <a:off x="10607040" y="4023360"/>
            <a:ext cx="329184" cy="329184"/>
          </a:xfrm>
          <a:prstGeom prst="ellipse">
            <a:avLst/>
          </a:prstGeom>
          <a:solidFill>
            <a:schemeClr val="bg2"/>
          </a:solidFill>
          <a:ln/>
        </p:spPr>
      </p:sp>
      <p:sp>
        <p:nvSpPr>
          <p:cNvPr id="22" name="node 7"/>
          <p:cNvSpPr/>
          <p:nvPr/>
        </p:nvSpPr>
        <p:spPr>
          <a:xfrm>
            <a:off x="11430000" y="5120640"/>
            <a:ext cx="329184" cy="329184"/>
          </a:xfrm>
          <a:prstGeom prst="ellipse">
            <a:avLst/>
          </a:prstGeom>
          <a:solidFill>
            <a:schemeClr val="accent6"/>
          </a:solidFill>
          <a:ln/>
        </p:spPr>
      </p:sp>
      <p:sp>
        <p:nvSpPr>
          <p:cNvPr id="23" name="node 8"/>
          <p:cNvSpPr/>
          <p:nvPr/>
        </p:nvSpPr>
        <p:spPr>
          <a:xfrm>
            <a:off x="9509760" y="5029200"/>
            <a:ext cx="329184" cy="329184"/>
          </a:xfrm>
          <a:prstGeom prst="ellipse">
            <a:avLst/>
          </a:prstGeom>
          <a:solidFill>
            <a:schemeClr val="bg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Why routing in a MANET is hard</a:t>
            </a:r>
            <a:endParaRPr lang="en-US" sz="3400" dirty="0"/>
          </a:p>
        </p:txBody>
      </p:sp>
      <p:sp>
        <p:nvSpPr>
          <p:cNvPr id="3" name="intro"/>
          <p:cNvSpPr txBox="1"/>
          <p:nvPr/>
        </p:nvSpPr>
        <p:spPr>
          <a:xfrm>
            <a:off x="548640" y="1325880"/>
            <a:ext cx="11064240" cy="822960"/>
          </a:xfrm>
          <a:prstGeom prst="rect">
            <a:avLst/>
          </a:prstGeom>
          <a:noFill/>
          <a:ln/>
        </p:spPr>
        <p:txBody>
          <a:bodyPr wrap="square" lIns="0" tIns="0" rIns="0" bIns="0" rtlCol="0" anchor="t"/>
          <a:lstStyle/>
          <a:p>
            <a:pPr indent="0" marL="0">
              <a:buNone/>
            </a:pPr>
            <a:r>
              <a:rPr lang="en-US" sz="1800" dirty="0">
                <a:solidFill>
                  <a:schemeClr val="tx1"/>
                </a:solidFill>
              </a:rPr>
              <a:t>A mobile ad hoc network has no access point or router: every node forwards packets for the others, and the routing protocol must keep finding paths as nodes move.</a:t>
            </a:r>
            <a:endParaRPr lang="en-US" sz="1800" dirty="0"/>
          </a:p>
        </p:txBody>
      </p:sp>
      <p:sp>
        <p:nvSpPr>
          <p:cNvPr id="4" name="card Partitions"/>
          <p:cNvSpPr/>
          <p:nvPr/>
        </p:nvSpPr>
        <p:spPr>
          <a:xfrm>
            <a:off x="548640" y="2514600"/>
            <a:ext cx="3520440" cy="3383280"/>
          </a:xfrm>
          <a:prstGeom prst="roundRect">
            <a:avLst>
              <a:gd name="adj" fmla="val 3243"/>
            </a:avLst>
          </a:prstGeom>
          <a:solidFill>
            <a:schemeClr val="bg2"/>
          </a:solidFill>
          <a:ln/>
        </p:spPr>
      </p:sp>
      <p:sp>
        <p:nvSpPr>
          <p:cNvPr id="5" name="Partitions circle"/>
          <p:cNvSpPr/>
          <p:nvPr/>
        </p:nvSpPr>
        <p:spPr>
          <a:xfrm>
            <a:off x="868680" y="2834640"/>
            <a:ext cx="822960" cy="822960"/>
          </a:xfrm>
          <a:prstGeom prst="ellipse">
            <a:avLst/>
          </a:prstGeom>
          <a:solidFill>
            <a:schemeClr val="accent1"/>
          </a:solidFill>
          <a:ln/>
        </p:spPr>
      </p:sp>
      <p:pic>
        <p:nvPicPr>
          <p:cNvPr id="6" name="Partitions icon" descr="preencoded.png">    </p:cNvPr>
          <p:cNvPicPr>
            <a:picLocks noChangeAspect="1"/>
          </p:cNvPicPr>
          <p:nvPr/>
        </p:nvPicPr>
        <p:blipFill>
          <a:blip r:embed="rId1"/>
          <a:stretch>
            <a:fillRect/>
          </a:stretch>
        </p:blipFill>
        <p:spPr>
          <a:xfrm>
            <a:off x="1074420" y="3040380"/>
            <a:ext cx="411480" cy="411480"/>
          </a:xfrm>
          <a:prstGeom prst="rect">
            <a:avLst/>
          </a:prstGeom>
        </p:spPr>
      </p:pic>
      <p:sp>
        <p:nvSpPr>
          <p:cNvPr id="7" name="Partitions title"/>
          <p:cNvSpPr txBox="1"/>
          <p:nvPr/>
        </p:nvSpPr>
        <p:spPr>
          <a:xfrm>
            <a:off x="868680" y="3840480"/>
            <a:ext cx="29260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Partitions</a:t>
            </a:r>
            <a:endParaRPr lang="en-US" sz="2200" dirty="0"/>
          </a:p>
        </p:txBody>
      </p:sp>
      <p:sp>
        <p:nvSpPr>
          <p:cNvPr id="8" name="Partitions text"/>
          <p:cNvSpPr txBox="1"/>
          <p:nvPr/>
        </p:nvSpPr>
        <p:spPr>
          <a:xfrm>
            <a:off x="868680" y="4389120"/>
            <a:ext cx="2926080" cy="1280160"/>
          </a:xfrm>
          <a:prstGeom prst="rect">
            <a:avLst/>
          </a:prstGeom>
          <a:noFill/>
          <a:ln/>
        </p:spPr>
        <p:txBody>
          <a:bodyPr wrap="square" lIns="0" tIns="0" rIns="0" bIns="0" rtlCol="0" anchor="t"/>
          <a:lstStyle/>
          <a:p>
            <a:pPr indent="0" marL="0">
              <a:buNone/>
            </a:pPr>
            <a:r>
              <a:rPr lang="en-US" sz="1600" dirty="0">
                <a:solidFill>
                  <a:schemeClr val="tx1"/>
                </a:solidFill>
              </a:rPr>
              <a:t>A sparse network splits into parts. If no path exists, no protocol can deliver.</a:t>
            </a:r>
            <a:endParaRPr lang="en-US" sz="1600" dirty="0"/>
          </a:p>
        </p:txBody>
      </p:sp>
      <p:sp>
        <p:nvSpPr>
          <p:cNvPr id="9" name="card Mobility"/>
          <p:cNvSpPr/>
          <p:nvPr/>
        </p:nvSpPr>
        <p:spPr>
          <a:xfrm>
            <a:off x="4325112" y="2514600"/>
            <a:ext cx="3520440" cy="3383280"/>
          </a:xfrm>
          <a:prstGeom prst="roundRect">
            <a:avLst>
              <a:gd name="adj" fmla="val 3243"/>
            </a:avLst>
          </a:prstGeom>
          <a:solidFill>
            <a:schemeClr val="bg2"/>
          </a:solidFill>
          <a:ln/>
        </p:spPr>
      </p:sp>
      <p:sp>
        <p:nvSpPr>
          <p:cNvPr id="10" name="Mobility circle"/>
          <p:cNvSpPr/>
          <p:nvPr/>
        </p:nvSpPr>
        <p:spPr>
          <a:xfrm>
            <a:off x="4645152" y="2834640"/>
            <a:ext cx="822960" cy="822960"/>
          </a:xfrm>
          <a:prstGeom prst="ellipse">
            <a:avLst/>
          </a:prstGeom>
          <a:solidFill>
            <a:schemeClr val="accent2"/>
          </a:solidFill>
          <a:ln/>
        </p:spPr>
      </p:sp>
      <p:pic>
        <p:nvPicPr>
          <p:cNvPr id="11" name="Mobility icon" descr="preencoded.png">    </p:cNvPr>
          <p:cNvPicPr>
            <a:picLocks noChangeAspect="1"/>
          </p:cNvPicPr>
          <p:nvPr/>
        </p:nvPicPr>
        <p:blipFill>
          <a:blip r:embed="rId2"/>
          <a:stretch>
            <a:fillRect/>
          </a:stretch>
        </p:blipFill>
        <p:spPr>
          <a:xfrm>
            <a:off x="4850892" y="3040380"/>
            <a:ext cx="411480" cy="411480"/>
          </a:xfrm>
          <a:prstGeom prst="rect">
            <a:avLst/>
          </a:prstGeom>
        </p:spPr>
      </p:pic>
      <p:sp>
        <p:nvSpPr>
          <p:cNvPr id="12" name="Mobility title"/>
          <p:cNvSpPr txBox="1"/>
          <p:nvPr/>
        </p:nvSpPr>
        <p:spPr>
          <a:xfrm>
            <a:off x="4645152" y="3840480"/>
            <a:ext cx="29260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Mobility</a:t>
            </a:r>
            <a:endParaRPr lang="en-US" sz="2200" dirty="0"/>
          </a:p>
        </p:txBody>
      </p:sp>
      <p:sp>
        <p:nvSpPr>
          <p:cNvPr id="13" name="Mobility text"/>
          <p:cNvSpPr txBox="1"/>
          <p:nvPr/>
        </p:nvSpPr>
        <p:spPr>
          <a:xfrm>
            <a:off x="4645152" y="4389120"/>
            <a:ext cx="2926080" cy="1280160"/>
          </a:xfrm>
          <a:prstGeom prst="rect">
            <a:avLst/>
          </a:prstGeom>
          <a:noFill/>
          <a:ln/>
        </p:spPr>
        <p:txBody>
          <a:bodyPr wrap="square" lIns="0" tIns="0" rIns="0" bIns="0" rtlCol="0" anchor="t"/>
          <a:lstStyle/>
          <a:p>
            <a:pPr indent="0" marL="0">
              <a:buNone/>
            </a:pPr>
            <a:r>
              <a:rPr lang="en-US" sz="1600" dirty="0">
                <a:solidFill>
                  <a:schemeClr val="tx1"/>
                </a:solidFill>
              </a:rPr>
              <a:t>Moving nodes break links. Routes must be detected as broken and repaired quickly.</a:t>
            </a:r>
            <a:endParaRPr lang="en-US" sz="1600" dirty="0"/>
          </a:p>
        </p:txBody>
      </p:sp>
      <p:sp>
        <p:nvSpPr>
          <p:cNvPr id="14" name="card Shared channel"/>
          <p:cNvSpPr/>
          <p:nvPr/>
        </p:nvSpPr>
        <p:spPr>
          <a:xfrm>
            <a:off x="8101584" y="2514600"/>
            <a:ext cx="3520440" cy="3383280"/>
          </a:xfrm>
          <a:prstGeom prst="roundRect">
            <a:avLst>
              <a:gd name="adj" fmla="val 3243"/>
            </a:avLst>
          </a:prstGeom>
          <a:solidFill>
            <a:schemeClr val="bg2"/>
          </a:solidFill>
          <a:ln/>
        </p:spPr>
      </p:sp>
      <p:sp>
        <p:nvSpPr>
          <p:cNvPr id="15" name="Shared channel circle"/>
          <p:cNvSpPr/>
          <p:nvPr/>
        </p:nvSpPr>
        <p:spPr>
          <a:xfrm>
            <a:off x="8421624" y="2834640"/>
            <a:ext cx="822960" cy="822960"/>
          </a:xfrm>
          <a:prstGeom prst="ellipse">
            <a:avLst/>
          </a:prstGeom>
          <a:solidFill>
            <a:schemeClr val="accent3"/>
          </a:solidFill>
          <a:ln/>
        </p:spPr>
      </p:sp>
      <p:pic>
        <p:nvPicPr>
          <p:cNvPr id="16" name="Shared channel icon" descr="preencoded.png">    </p:cNvPr>
          <p:cNvPicPr>
            <a:picLocks noChangeAspect="1"/>
          </p:cNvPicPr>
          <p:nvPr/>
        </p:nvPicPr>
        <p:blipFill>
          <a:blip r:embed="rId3"/>
          <a:stretch>
            <a:fillRect/>
          </a:stretch>
        </p:blipFill>
        <p:spPr>
          <a:xfrm>
            <a:off x="8627364" y="3040380"/>
            <a:ext cx="411480" cy="411480"/>
          </a:xfrm>
          <a:prstGeom prst="rect">
            <a:avLst/>
          </a:prstGeom>
        </p:spPr>
      </p:pic>
      <p:sp>
        <p:nvSpPr>
          <p:cNvPr id="17" name="Shared channel title"/>
          <p:cNvSpPr txBox="1"/>
          <p:nvPr/>
        </p:nvSpPr>
        <p:spPr>
          <a:xfrm>
            <a:off x="8421624" y="3840480"/>
            <a:ext cx="29260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Shared channel</a:t>
            </a:r>
            <a:endParaRPr lang="en-US" sz="2200" dirty="0"/>
          </a:p>
        </p:txBody>
      </p:sp>
      <p:sp>
        <p:nvSpPr>
          <p:cNvPr id="18" name="Shared channel text"/>
          <p:cNvSpPr txBox="1"/>
          <p:nvPr/>
        </p:nvSpPr>
        <p:spPr>
          <a:xfrm>
            <a:off x="8421624" y="4389120"/>
            <a:ext cx="2926080" cy="1280160"/>
          </a:xfrm>
          <a:prstGeom prst="rect">
            <a:avLst/>
          </a:prstGeom>
          <a:noFill/>
          <a:ln/>
        </p:spPr>
        <p:txBody>
          <a:bodyPr wrap="square" lIns="0" tIns="0" rIns="0" bIns="0" rtlCol="0" anchor="t"/>
          <a:lstStyle/>
          <a:p>
            <a:pPr indent="0" marL="0">
              <a:buNone/>
            </a:pPr>
            <a:r>
              <a:rPr lang="en-US" sz="1600" dirty="0">
                <a:solidFill>
                  <a:schemeClr val="tx1"/>
                </a:solidFill>
              </a:rPr>
              <a:t>Data and routing control packets compete for one radio channel, hop after hop.</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Objectives</a:t>
            </a:r>
            <a:endParaRPr lang="en-US" sz="3400" dirty="0"/>
          </a:p>
        </p:txBody>
      </p:sp>
      <p:sp>
        <p:nvSpPr>
          <p:cNvPr id="3" name="objective 1 circle"/>
          <p:cNvSpPr/>
          <p:nvPr/>
        </p:nvSpPr>
        <p:spPr>
          <a:xfrm>
            <a:off x="548640" y="1417320"/>
            <a:ext cx="566928" cy="566928"/>
          </a:xfrm>
          <a:prstGeom prst="ellipse">
            <a:avLst/>
          </a:prstGeom>
          <a:solidFill>
            <a:schemeClr val="accent1"/>
          </a:solidFill>
          <a:ln/>
        </p:spPr>
      </p:sp>
      <p:sp>
        <p:nvSpPr>
          <p:cNvPr id="4" name="objective 1 number"/>
          <p:cNvSpPr txBox="1"/>
          <p:nvPr/>
        </p:nvSpPr>
        <p:spPr>
          <a:xfrm>
            <a:off x="548640" y="14173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objective 1"/>
          <p:cNvSpPr txBox="1"/>
          <p:nvPr/>
        </p:nvSpPr>
        <p:spPr>
          <a:xfrm>
            <a:off x="1325880" y="1435608"/>
            <a:ext cx="6309360" cy="566928"/>
          </a:xfrm>
          <a:prstGeom prst="rect">
            <a:avLst/>
          </a:prstGeom>
          <a:noFill/>
          <a:ln/>
        </p:spPr>
        <p:txBody>
          <a:bodyPr wrap="square" lIns="0" tIns="0" rIns="0" bIns="0" rtlCol="0" anchor="ctr"/>
          <a:lstStyle/>
          <a:p>
            <a:pPr indent="0" marL="0">
              <a:buNone/>
            </a:pPr>
            <a:r>
              <a:rPr lang="en-US" sz="1800" dirty="0">
                <a:solidFill>
                  <a:schemeClr val="tx1"/>
                </a:solidFill>
              </a:rPr>
              <a:t>Implement a MANET in ns-3.48 with a UDP client–server application</a:t>
            </a:r>
            <a:endParaRPr lang="en-US" sz="1800" dirty="0"/>
          </a:p>
        </p:txBody>
      </p:sp>
      <p:sp>
        <p:nvSpPr>
          <p:cNvPr id="6" name="objective 2 circle"/>
          <p:cNvSpPr/>
          <p:nvPr/>
        </p:nvSpPr>
        <p:spPr>
          <a:xfrm>
            <a:off x="548640" y="2331720"/>
            <a:ext cx="566928" cy="566928"/>
          </a:xfrm>
          <a:prstGeom prst="ellipse">
            <a:avLst/>
          </a:prstGeom>
          <a:solidFill>
            <a:schemeClr val="accent1"/>
          </a:solidFill>
          <a:ln/>
        </p:spPr>
      </p:sp>
      <p:sp>
        <p:nvSpPr>
          <p:cNvPr id="7" name="objective 2 number"/>
          <p:cNvSpPr txBox="1"/>
          <p:nvPr/>
        </p:nvSpPr>
        <p:spPr>
          <a:xfrm>
            <a:off x="548640" y="23317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objective 2"/>
          <p:cNvSpPr txBox="1"/>
          <p:nvPr/>
        </p:nvSpPr>
        <p:spPr>
          <a:xfrm>
            <a:off x="1325880" y="2350008"/>
            <a:ext cx="6309360" cy="566928"/>
          </a:xfrm>
          <a:prstGeom prst="rect">
            <a:avLst/>
          </a:prstGeom>
          <a:noFill/>
          <a:ln/>
        </p:spPr>
        <p:txBody>
          <a:bodyPr wrap="square" lIns="0" tIns="0" rIns="0" bIns="0" rtlCol="0" anchor="ctr"/>
          <a:lstStyle/>
          <a:p>
            <a:pPr indent="0" marL="0">
              <a:buNone/>
            </a:pPr>
            <a:r>
              <a:rPr lang="en-US" sz="1800" dirty="0">
                <a:solidFill>
                  <a:schemeClr val="tx1"/>
                </a:solidFill>
              </a:rPr>
              <a:t>Measure AODV as node density, speed and traffic load change</a:t>
            </a:r>
            <a:endParaRPr lang="en-US" sz="1800" dirty="0"/>
          </a:p>
        </p:txBody>
      </p:sp>
      <p:sp>
        <p:nvSpPr>
          <p:cNvPr id="9" name="objective 3 circle"/>
          <p:cNvSpPr/>
          <p:nvPr/>
        </p:nvSpPr>
        <p:spPr>
          <a:xfrm>
            <a:off x="548640" y="3246120"/>
            <a:ext cx="566928" cy="566928"/>
          </a:xfrm>
          <a:prstGeom prst="ellipse">
            <a:avLst/>
          </a:prstGeom>
          <a:solidFill>
            <a:schemeClr val="accent1"/>
          </a:solidFill>
          <a:ln/>
        </p:spPr>
      </p:sp>
      <p:sp>
        <p:nvSpPr>
          <p:cNvPr id="10" name="objective 3 number"/>
          <p:cNvSpPr txBox="1"/>
          <p:nvPr/>
        </p:nvSpPr>
        <p:spPr>
          <a:xfrm>
            <a:off x="548640" y="32461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objective 3"/>
          <p:cNvSpPr txBox="1"/>
          <p:nvPr/>
        </p:nvSpPr>
        <p:spPr>
          <a:xfrm>
            <a:off x="1325880" y="3264408"/>
            <a:ext cx="6309360" cy="566928"/>
          </a:xfrm>
          <a:prstGeom prst="rect">
            <a:avLst/>
          </a:prstGeom>
          <a:noFill/>
          <a:ln/>
        </p:spPr>
        <p:txBody>
          <a:bodyPr wrap="square" lIns="0" tIns="0" rIns="0" bIns="0" rtlCol="0" anchor="ctr"/>
          <a:lstStyle/>
          <a:p>
            <a:pPr indent="0" marL="0">
              <a:buNone/>
            </a:pPr>
            <a:r>
              <a:rPr lang="en-US" sz="1800" dirty="0">
                <a:solidFill>
                  <a:schemeClr val="tx1"/>
                </a:solidFill>
              </a:rPr>
              <a:t>Compare AODV with OLSR and DSDV on identical topologies</a:t>
            </a:r>
            <a:endParaRPr lang="en-US" sz="1800" dirty="0"/>
          </a:p>
        </p:txBody>
      </p:sp>
      <p:sp>
        <p:nvSpPr>
          <p:cNvPr id="12" name="objective 4 circle"/>
          <p:cNvSpPr/>
          <p:nvPr/>
        </p:nvSpPr>
        <p:spPr>
          <a:xfrm>
            <a:off x="548640" y="4160520"/>
            <a:ext cx="566928" cy="566928"/>
          </a:xfrm>
          <a:prstGeom prst="ellipse">
            <a:avLst/>
          </a:prstGeom>
          <a:solidFill>
            <a:schemeClr val="accent1"/>
          </a:solidFill>
          <a:ln/>
        </p:spPr>
      </p:sp>
      <p:sp>
        <p:nvSpPr>
          <p:cNvPr id="13" name="objective 4 number"/>
          <p:cNvSpPr txBox="1"/>
          <p:nvPr/>
        </p:nvSpPr>
        <p:spPr>
          <a:xfrm>
            <a:off x="548640" y="4160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objective 4"/>
          <p:cNvSpPr txBox="1"/>
          <p:nvPr/>
        </p:nvSpPr>
        <p:spPr>
          <a:xfrm>
            <a:off x="1325880" y="4178808"/>
            <a:ext cx="6309360" cy="566928"/>
          </a:xfrm>
          <a:prstGeom prst="rect">
            <a:avLst/>
          </a:prstGeom>
          <a:noFill/>
          <a:ln/>
        </p:spPr>
        <p:txBody>
          <a:bodyPr wrap="square" lIns="0" tIns="0" rIns="0" bIns="0" rtlCol="0" anchor="ctr"/>
          <a:lstStyle/>
          <a:p>
            <a:pPr indent="0" marL="0">
              <a:buNone/>
            </a:pPr>
            <a:r>
              <a:rPr lang="en-US" sz="1800" dirty="0">
                <a:solidFill>
                  <a:schemeClr val="tx1"/>
                </a:solidFill>
              </a:rPr>
              <a:t>Measure routing overhead, jitter and packets dropped at the source</a:t>
            </a:r>
            <a:endParaRPr lang="en-US" sz="1800" dirty="0"/>
          </a:p>
        </p:txBody>
      </p:sp>
      <p:sp>
        <p:nvSpPr>
          <p:cNvPr id="15" name="objective 5 circle"/>
          <p:cNvSpPr/>
          <p:nvPr/>
        </p:nvSpPr>
        <p:spPr>
          <a:xfrm>
            <a:off x="548640" y="5074920"/>
            <a:ext cx="566928" cy="566928"/>
          </a:xfrm>
          <a:prstGeom prst="ellipse">
            <a:avLst/>
          </a:prstGeom>
          <a:solidFill>
            <a:schemeClr val="accent1"/>
          </a:solidFill>
          <a:ln/>
        </p:spPr>
      </p:sp>
      <p:sp>
        <p:nvSpPr>
          <p:cNvPr id="16" name="objective 5 number"/>
          <p:cNvSpPr txBox="1"/>
          <p:nvPr/>
        </p:nvSpPr>
        <p:spPr>
          <a:xfrm>
            <a:off x="548640" y="50749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7" name="objective 5"/>
          <p:cNvSpPr txBox="1"/>
          <p:nvPr/>
        </p:nvSpPr>
        <p:spPr>
          <a:xfrm>
            <a:off x="1325880" y="5093208"/>
            <a:ext cx="6309360" cy="566928"/>
          </a:xfrm>
          <a:prstGeom prst="rect">
            <a:avLst/>
          </a:prstGeom>
          <a:noFill/>
          <a:ln/>
        </p:spPr>
        <p:txBody>
          <a:bodyPr wrap="square" lIns="0" tIns="0" rIns="0" bIns="0" rtlCol="0" anchor="ctr"/>
          <a:lstStyle/>
          <a:p>
            <a:pPr indent="0" marL="0">
              <a:buNone/>
            </a:pPr>
            <a:r>
              <a:rPr lang="en-US" sz="1800" dirty="0">
                <a:solidFill>
                  <a:schemeClr val="tx1"/>
                </a:solidFill>
              </a:rPr>
              <a:t>Validate the results and report 95% confidence and significance</a:t>
            </a:r>
            <a:endParaRPr lang="en-US" sz="1800" dirty="0"/>
          </a:p>
        </p:txBody>
      </p:sp>
      <p:sp>
        <p:nvSpPr>
          <p:cNvPr id="18" name="simulations card"/>
          <p:cNvSpPr/>
          <p:nvPr/>
        </p:nvSpPr>
        <p:spPr>
          <a:xfrm>
            <a:off x="8183880" y="1417320"/>
            <a:ext cx="3429000" cy="4434840"/>
          </a:xfrm>
          <a:prstGeom prst="roundRect">
            <a:avLst>
              <a:gd name="adj" fmla="val 3200"/>
            </a:avLst>
          </a:prstGeom>
          <a:solidFill>
            <a:schemeClr val="tx2"/>
          </a:solidFill>
          <a:ln/>
        </p:spPr>
      </p:sp>
      <p:sp>
        <p:nvSpPr>
          <p:cNvPr id="19" name="runs value"/>
          <p:cNvSpPr txBox="1"/>
          <p:nvPr/>
        </p:nvSpPr>
        <p:spPr>
          <a:xfrm>
            <a:off x="8503920" y="2148840"/>
            <a:ext cx="2834640" cy="1188720"/>
          </a:xfrm>
          <a:prstGeom prst="rect">
            <a:avLst/>
          </a:prstGeom>
          <a:noFill/>
          <a:ln/>
        </p:spPr>
        <p:txBody>
          <a:bodyPr wrap="square" lIns="0" tIns="0" rIns="0" bIns="0" rtlCol="0" anchor="t"/>
          <a:lstStyle/>
          <a:p>
            <a:pPr algn="ctr" indent="0" marL="0">
              <a:buNone/>
            </a:pPr>
            <a:r>
              <a:rPr lang="en-US" sz="8000" b="1" dirty="0">
                <a:solidFill>
                  <a:schemeClr val="bg1"/>
                </a:solidFill>
                <a:latin typeface="Cambria" pitchFamily="34" charset="0"/>
                <a:ea typeface="Cambria" pitchFamily="34" charset="-122"/>
                <a:cs typeface="Cambria" pitchFamily="34" charset="-120"/>
              </a:rPr>
              <a:t>420</a:t>
            </a:r>
            <a:endParaRPr lang="en-US" sz="8000" dirty="0"/>
          </a:p>
        </p:txBody>
      </p:sp>
      <p:sp>
        <p:nvSpPr>
          <p:cNvPr id="20" name="runs label"/>
          <p:cNvSpPr txBox="1"/>
          <p:nvPr/>
        </p:nvSpPr>
        <p:spPr>
          <a:xfrm>
            <a:off x="8503920" y="3383280"/>
            <a:ext cx="2834640" cy="457200"/>
          </a:xfrm>
          <a:prstGeom prst="rect">
            <a:avLst/>
          </a:prstGeom>
          <a:noFill/>
          <a:ln/>
        </p:spPr>
        <p:txBody>
          <a:bodyPr wrap="square" lIns="0" tIns="0" rIns="0" bIns="0" rtlCol="0" anchor="t"/>
          <a:lstStyle/>
          <a:p>
            <a:pPr algn="ctr" indent="0" marL="0">
              <a:buNone/>
            </a:pPr>
            <a:r>
              <a:rPr lang="en-US" sz="2200" dirty="0">
                <a:solidFill>
                  <a:schemeClr val="accent6"/>
                </a:solidFill>
              </a:rPr>
              <a:t>simulations</a:t>
            </a:r>
            <a:endParaRPr lang="en-US" sz="2200" dirty="0"/>
          </a:p>
        </p:txBody>
      </p:sp>
      <p:sp>
        <p:nvSpPr>
          <p:cNvPr id="21" name="runs detail"/>
          <p:cNvSpPr txBox="1"/>
          <p:nvPr/>
        </p:nvSpPr>
        <p:spPr>
          <a:xfrm>
            <a:off x="8503920" y="4023360"/>
            <a:ext cx="2834640" cy="1097280"/>
          </a:xfrm>
          <a:prstGeom prst="rect">
            <a:avLst/>
          </a:prstGeom>
          <a:noFill/>
          <a:ln/>
        </p:spPr>
        <p:txBody>
          <a:bodyPr wrap="square" lIns="0" tIns="0" rIns="0" bIns="0" rtlCol="0" anchor="t"/>
          <a:lstStyle/>
          <a:p>
            <a:pPr algn="ctr" indent="0" marL="0">
              <a:buNone/>
            </a:pPr>
            <a:r>
              <a:rPr lang="en-US" sz="1600" dirty="0">
                <a:solidFill>
                  <a:schemeClr val="bg2"/>
                </a:solidFill>
              </a:rPr>
              <a:t>14 settings × 3 protocols × 10 random topologies</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Three protocols, two approaches</a:t>
            </a:r>
            <a:endParaRPr lang="en-US" sz="3400" dirty="0"/>
          </a:p>
        </p:txBody>
      </p:sp>
      <p:sp>
        <p:nvSpPr>
          <p:cNvPr id="3" name="card AODV"/>
          <p:cNvSpPr/>
          <p:nvPr/>
        </p:nvSpPr>
        <p:spPr>
          <a:xfrm>
            <a:off x="548640" y="1371600"/>
            <a:ext cx="3520440" cy="4526280"/>
          </a:xfrm>
          <a:prstGeom prst="roundRect">
            <a:avLst>
              <a:gd name="adj" fmla="val 3117"/>
            </a:avLst>
          </a:prstGeom>
          <a:solidFill>
            <a:schemeClr val="bg2"/>
          </a:solidFill>
          <a:ln/>
        </p:spPr>
      </p:sp>
      <p:sp>
        <p:nvSpPr>
          <p:cNvPr id="4" name="AODV circle"/>
          <p:cNvSpPr/>
          <p:nvPr/>
        </p:nvSpPr>
        <p:spPr>
          <a:xfrm>
            <a:off x="868680" y="1645920"/>
            <a:ext cx="731520" cy="731520"/>
          </a:xfrm>
          <a:prstGeom prst="ellipse">
            <a:avLst/>
          </a:prstGeom>
          <a:solidFill>
            <a:srgbClr val="1F4E9C"/>
          </a:solidFill>
          <a:ln/>
        </p:spPr>
      </p:sp>
      <p:pic>
        <p:nvPicPr>
          <p:cNvPr id="5" name="AODV icon" descr="preencoded.png">    </p:cNvPr>
          <p:cNvPicPr>
            <a:picLocks noChangeAspect="1"/>
          </p:cNvPicPr>
          <p:nvPr/>
        </p:nvPicPr>
        <p:blipFill>
          <a:blip r:embed="rId1"/>
          <a:stretch>
            <a:fillRect/>
          </a:stretch>
        </p:blipFill>
        <p:spPr>
          <a:xfrm>
            <a:off x="1051560" y="1828800"/>
            <a:ext cx="365760" cy="365760"/>
          </a:xfrm>
          <a:prstGeom prst="rect">
            <a:avLst/>
          </a:prstGeom>
        </p:spPr>
      </p:pic>
      <p:sp>
        <p:nvSpPr>
          <p:cNvPr id="6" name="AODV name"/>
          <p:cNvSpPr txBox="1"/>
          <p:nvPr/>
        </p:nvSpPr>
        <p:spPr>
          <a:xfrm>
            <a:off x="1783080" y="1645920"/>
            <a:ext cx="2103120" cy="45720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AODV</a:t>
            </a:r>
            <a:endParaRPr lang="en-US" sz="2800" dirty="0"/>
          </a:p>
        </p:txBody>
      </p:sp>
      <p:sp>
        <p:nvSpPr>
          <p:cNvPr id="7" name="AODV type"/>
          <p:cNvSpPr txBox="1"/>
          <p:nvPr/>
        </p:nvSpPr>
        <p:spPr>
          <a:xfrm>
            <a:off x="1783080" y="2103120"/>
            <a:ext cx="2194560" cy="365760"/>
          </a:xfrm>
          <a:prstGeom prst="rect">
            <a:avLst/>
          </a:prstGeom>
          <a:noFill/>
          <a:ln/>
        </p:spPr>
        <p:txBody>
          <a:bodyPr wrap="square" lIns="0" tIns="0" rIns="0" bIns="0" rtlCol="0" anchor="t"/>
          <a:lstStyle/>
          <a:p>
            <a:pPr indent="0" marL="0">
              <a:buNone/>
            </a:pPr>
            <a:r>
              <a:rPr lang="en-US" sz="1400" dirty="0">
                <a:solidFill>
                  <a:schemeClr val="accent5"/>
                </a:solidFill>
              </a:rPr>
              <a:t>Reactive · distance vector</a:t>
            </a:r>
            <a:endParaRPr lang="en-US" sz="1400" dirty="0"/>
          </a:p>
        </p:txBody>
      </p:sp>
      <p:sp>
        <p:nvSpPr>
          <p:cNvPr id="8" name="AODV details"/>
          <p:cNvSpPr txBox="1"/>
          <p:nvPr/>
        </p:nvSpPr>
        <p:spPr>
          <a:xfrm>
            <a:off x="868680" y="2697480"/>
            <a:ext cx="2926080" cy="30175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Port</a:t>
            </a:r>
            <a:endParaRPr lang="en-US" sz="1600" dirty="0"/>
          </a:p>
          <a:p>
            <a:pPr indent="0" marL="0">
              <a:spcAft>
                <a:spcPts val="600"/>
              </a:spcAft>
              <a:buNone/>
            </a:pPr>
            <a:r>
              <a:rPr lang="en-US" sz="1600" dirty="0">
                <a:solidFill>
                  <a:schemeClr val="tx1"/>
                </a:solidFill>
              </a:rPr>
              <a:t>UDP port 654</a:t>
            </a:r>
            <a:endParaRPr lang="en-US" sz="1600" dirty="0"/>
          </a:p>
          <a:p>
            <a:pPr indent="0" marL="0">
              <a:spcAft>
                <a:spcPts val="600"/>
              </a:spcAft>
              <a:buNone/>
            </a:pPr>
            <a:r>
              <a:rPr lang="en-US" sz="1600" b="1" dirty="0">
                <a:solidFill>
                  <a:schemeClr val="tx1"/>
                </a:solidFill>
              </a:rPr>
              <a:t>Routes</a:t>
            </a:r>
            <a:endParaRPr lang="en-US" sz="1600" dirty="0"/>
          </a:p>
          <a:p>
            <a:pPr indent="0" marL="0">
              <a:spcAft>
                <a:spcPts val="600"/>
              </a:spcAft>
              <a:buNone/>
            </a:pPr>
            <a:r>
              <a:rPr lang="en-US" sz="1600" dirty="0">
                <a:solidFill>
                  <a:schemeClr val="tx1"/>
                </a:solidFill>
              </a:rPr>
              <a:t>Finds a route only when needed; buffers packets meanwhile</a:t>
            </a:r>
            <a:endParaRPr lang="en-US" sz="1600" dirty="0"/>
          </a:p>
          <a:p>
            <a:pPr indent="0" marL="0">
              <a:spcAft>
                <a:spcPts val="600"/>
              </a:spcAft>
              <a:buNone/>
            </a:pPr>
            <a:r>
              <a:rPr lang="en-US" sz="1600" b="1" dirty="0">
                <a:solidFill>
                  <a:schemeClr val="tx1"/>
                </a:solidFill>
              </a:rPr>
              <a:t>Control messages</a:t>
            </a:r>
            <a:endParaRPr lang="en-US" sz="1600" dirty="0"/>
          </a:p>
          <a:p>
            <a:pPr indent="0" marL="0">
              <a:spcAft>
                <a:spcPts val="600"/>
              </a:spcAft>
              <a:buNone/>
            </a:pPr>
            <a:r>
              <a:rPr lang="en-US" sz="1600" dirty="0">
                <a:solidFill>
                  <a:schemeClr val="tx1"/>
                </a:solidFill>
              </a:rPr>
              <a:t>RREQ, RREP, RERR; Hello every 1 s</a:t>
            </a:r>
            <a:endParaRPr lang="en-US" sz="1600" dirty="0"/>
          </a:p>
        </p:txBody>
      </p:sp>
      <p:sp>
        <p:nvSpPr>
          <p:cNvPr id="9" name="card OLSR"/>
          <p:cNvSpPr/>
          <p:nvPr/>
        </p:nvSpPr>
        <p:spPr>
          <a:xfrm>
            <a:off x="4325112" y="1371600"/>
            <a:ext cx="3520440" cy="4526280"/>
          </a:xfrm>
          <a:prstGeom prst="roundRect">
            <a:avLst>
              <a:gd name="adj" fmla="val 3117"/>
            </a:avLst>
          </a:prstGeom>
          <a:solidFill>
            <a:schemeClr val="bg2"/>
          </a:solidFill>
          <a:ln/>
        </p:spPr>
      </p:sp>
      <p:sp>
        <p:nvSpPr>
          <p:cNvPr id="10" name="OLSR circle"/>
          <p:cNvSpPr/>
          <p:nvPr/>
        </p:nvSpPr>
        <p:spPr>
          <a:xfrm>
            <a:off x="4645152" y="1645920"/>
            <a:ext cx="731520" cy="731520"/>
          </a:xfrm>
          <a:prstGeom prst="ellipse">
            <a:avLst/>
          </a:prstGeom>
          <a:solidFill>
            <a:srgbClr val="C8611B"/>
          </a:solidFill>
          <a:ln/>
        </p:spPr>
      </p:sp>
      <p:pic>
        <p:nvPicPr>
          <p:cNvPr id="11" name="OLSR icon" descr="preencoded.png">    </p:cNvPr>
          <p:cNvPicPr>
            <a:picLocks noChangeAspect="1"/>
          </p:cNvPicPr>
          <p:nvPr/>
        </p:nvPicPr>
        <p:blipFill>
          <a:blip r:embed="rId2"/>
          <a:stretch>
            <a:fillRect/>
          </a:stretch>
        </p:blipFill>
        <p:spPr>
          <a:xfrm>
            <a:off x="4828032" y="1828800"/>
            <a:ext cx="365760" cy="365760"/>
          </a:xfrm>
          <a:prstGeom prst="rect">
            <a:avLst/>
          </a:prstGeom>
        </p:spPr>
      </p:pic>
      <p:sp>
        <p:nvSpPr>
          <p:cNvPr id="12" name="OLSR name"/>
          <p:cNvSpPr txBox="1"/>
          <p:nvPr/>
        </p:nvSpPr>
        <p:spPr>
          <a:xfrm>
            <a:off x="5559552" y="1645920"/>
            <a:ext cx="2103120" cy="457200"/>
          </a:xfrm>
          <a:prstGeom prst="rect">
            <a:avLst/>
          </a:prstGeom>
          <a:noFill/>
          <a:ln/>
        </p:spPr>
        <p:txBody>
          <a:bodyPr wrap="square" lIns="0" tIns="0" rIns="0" bIns="0" rtlCol="0" anchor="t"/>
          <a:lstStyle/>
          <a:p>
            <a:pPr indent="0" marL="0">
              <a:buNone/>
            </a:pPr>
            <a:r>
              <a:rPr lang="en-US" sz="2800" b="1" dirty="0">
                <a:solidFill>
                  <a:schemeClr val="accent2"/>
                </a:solidFill>
                <a:latin typeface="Cambria" pitchFamily="34" charset="0"/>
                <a:ea typeface="Cambria" pitchFamily="34" charset="-122"/>
                <a:cs typeface="Cambria" pitchFamily="34" charset="-120"/>
              </a:rPr>
              <a:t>OLSR</a:t>
            </a:r>
            <a:endParaRPr lang="en-US" sz="2800" dirty="0"/>
          </a:p>
        </p:txBody>
      </p:sp>
      <p:sp>
        <p:nvSpPr>
          <p:cNvPr id="13" name="OLSR type"/>
          <p:cNvSpPr txBox="1"/>
          <p:nvPr/>
        </p:nvSpPr>
        <p:spPr>
          <a:xfrm>
            <a:off x="5559552" y="2103120"/>
            <a:ext cx="2194560" cy="365760"/>
          </a:xfrm>
          <a:prstGeom prst="rect">
            <a:avLst/>
          </a:prstGeom>
          <a:noFill/>
          <a:ln/>
        </p:spPr>
        <p:txBody>
          <a:bodyPr wrap="square" lIns="0" tIns="0" rIns="0" bIns="0" rtlCol="0" anchor="t"/>
          <a:lstStyle/>
          <a:p>
            <a:pPr indent="0" marL="0">
              <a:buNone/>
            </a:pPr>
            <a:r>
              <a:rPr lang="en-US" sz="1400" dirty="0">
                <a:solidFill>
                  <a:schemeClr val="accent5"/>
                </a:solidFill>
              </a:rPr>
              <a:t>Proactive · link state</a:t>
            </a:r>
            <a:endParaRPr lang="en-US" sz="1400" dirty="0"/>
          </a:p>
        </p:txBody>
      </p:sp>
      <p:sp>
        <p:nvSpPr>
          <p:cNvPr id="14" name="OLSR details"/>
          <p:cNvSpPr txBox="1"/>
          <p:nvPr/>
        </p:nvSpPr>
        <p:spPr>
          <a:xfrm>
            <a:off x="4645152" y="2697480"/>
            <a:ext cx="2926080" cy="30175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Port</a:t>
            </a:r>
            <a:endParaRPr lang="en-US" sz="1600" dirty="0"/>
          </a:p>
          <a:p>
            <a:pPr indent="0" marL="0">
              <a:spcAft>
                <a:spcPts val="600"/>
              </a:spcAft>
              <a:buNone/>
            </a:pPr>
            <a:r>
              <a:rPr lang="en-US" sz="1600" dirty="0">
                <a:solidFill>
                  <a:schemeClr val="tx1"/>
                </a:solidFill>
              </a:rPr>
              <a:t>UDP port 698</a:t>
            </a:r>
            <a:endParaRPr lang="en-US" sz="1600" dirty="0"/>
          </a:p>
          <a:p>
            <a:pPr indent="0" marL="0">
              <a:spcAft>
                <a:spcPts val="600"/>
              </a:spcAft>
              <a:buNone/>
            </a:pPr>
            <a:r>
              <a:rPr lang="en-US" sz="1600" b="1" dirty="0">
                <a:solidFill>
                  <a:schemeClr val="tx1"/>
                </a:solidFill>
              </a:rPr>
              <a:t>Routes</a:t>
            </a:r>
            <a:endParaRPr lang="en-US" sz="1600" dirty="0"/>
          </a:p>
          <a:p>
            <a:pPr indent="0" marL="0">
              <a:spcAft>
                <a:spcPts val="600"/>
              </a:spcAft>
              <a:buNone/>
            </a:pPr>
            <a:r>
              <a:rPr lang="en-US" sz="1600" dirty="0">
                <a:solidFill>
                  <a:schemeClr val="tx1"/>
                </a:solidFill>
              </a:rPr>
              <a:t>Routes always in the table; drops packets without a route</a:t>
            </a:r>
            <a:endParaRPr lang="en-US" sz="1600" dirty="0"/>
          </a:p>
          <a:p>
            <a:pPr indent="0" marL="0">
              <a:spcAft>
                <a:spcPts val="600"/>
              </a:spcAft>
              <a:buNone/>
            </a:pPr>
            <a:r>
              <a:rPr lang="en-US" sz="1600" b="1" dirty="0">
                <a:solidFill>
                  <a:schemeClr val="tx1"/>
                </a:solidFill>
              </a:rPr>
              <a:t>Control messages</a:t>
            </a:r>
            <a:endParaRPr lang="en-US" sz="1600" dirty="0"/>
          </a:p>
          <a:p>
            <a:pPr indent="0" marL="0">
              <a:spcAft>
                <a:spcPts val="600"/>
              </a:spcAft>
              <a:buNone/>
            </a:pPr>
            <a:r>
              <a:rPr lang="en-US" sz="1600" dirty="0">
                <a:solidFill>
                  <a:schemeClr val="tx1"/>
                </a:solidFill>
              </a:rPr>
              <a:t>HELLO every 2 s; TC every 5 s via multipoint relays</a:t>
            </a:r>
            <a:endParaRPr lang="en-US" sz="1600" dirty="0"/>
          </a:p>
        </p:txBody>
      </p:sp>
      <p:sp>
        <p:nvSpPr>
          <p:cNvPr id="15" name="card DSDV"/>
          <p:cNvSpPr/>
          <p:nvPr/>
        </p:nvSpPr>
        <p:spPr>
          <a:xfrm>
            <a:off x="8101584" y="1371600"/>
            <a:ext cx="3520440" cy="4526280"/>
          </a:xfrm>
          <a:prstGeom prst="roundRect">
            <a:avLst>
              <a:gd name="adj" fmla="val 3117"/>
            </a:avLst>
          </a:prstGeom>
          <a:solidFill>
            <a:schemeClr val="bg2"/>
          </a:solidFill>
          <a:ln/>
        </p:spPr>
      </p:sp>
      <p:sp>
        <p:nvSpPr>
          <p:cNvPr id="16" name="DSDV circle"/>
          <p:cNvSpPr/>
          <p:nvPr/>
        </p:nvSpPr>
        <p:spPr>
          <a:xfrm>
            <a:off x="8421624" y="1645920"/>
            <a:ext cx="731520" cy="731520"/>
          </a:xfrm>
          <a:prstGeom prst="ellipse">
            <a:avLst/>
          </a:prstGeom>
          <a:solidFill>
            <a:srgbClr val="2E8B57"/>
          </a:solidFill>
          <a:ln/>
        </p:spPr>
      </p:sp>
      <p:pic>
        <p:nvPicPr>
          <p:cNvPr id="17" name="DSDV icon" descr="preencoded.png">    </p:cNvPr>
          <p:cNvPicPr>
            <a:picLocks noChangeAspect="1"/>
          </p:cNvPicPr>
          <p:nvPr/>
        </p:nvPicPr>
        <p:blipFill>
          <a:blip r:embed="rId3"/>
          <a:stretch>
            <a:fillRect/>
          </a:stretch>
        </p:blipFill>
        <p:spPr>
          <a:xfrm>
            <a:off x="8604504" y="1828800"/>
            <a:ext cx="365760" cy="365760"/>
          </a:xfrm>
          <a:prstGeom prst="rect">
            <a:avLst/>
          </a:prstGeom>
        </p:spPr>
      </p:pic>
      <p:sp>
        <p:nvSpPr>
          <p:cNvPr id="18" name="DSDV name"/>
          <p:cNvSpPr txBox="1"/>
          <p:nvPr/>
        </p:nvSpPr>
        <p:spPr>
          <a:xfrm>
            <a:off x="9336024" y="1645920"/>
            <a:ext cx="2103120" cy="45720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DSDV</a:t>
            </a:r>
            <a:endParaRPr lang="en-US" sz="2800" dirty="0"/>
          </a:p>
        </p:txBody>
      </p:sp>
      <p:sp>
        <p:nvSpPr>
          <p:cNvPr id="19" name="DSDV type"/>
          <p:cNvSpPr txBox="1"/>
          <p:nvPr/>
        </p:nvSpPr>
        <p:spPr>
          <a:xfrm>
            <a:off x="9336024" y="2103120"/>
            <a:ext cx="2194560" cy="365760"/>
          </a:xfrm>
          <a:prstGeom prst="rect">
            <a:avLst/>
          </a:prstGeom>
          <a:noFill/>
          <a:ln/>
        </p:spPr>
        <p:txBody>
          <a:bodyPr wrap="square" lIns="0" tIns="0" rIns="0" bIns="0" rtlCol="0" anchor="t"/>
          <a:lstStyle/>
          <a:p>
            <a:pPr indent="0" marL="0">
              <a:buNone/>
            </a:pPr>
            <a:r>
              <a:rPr lang="en-US" sz="1400" dirty="0">
                <a:solidFill>
                  <a:schemeClr val="accent5"/>
                </a:solidFill>
              </a:rPr>
              <a:t>Proactive · distance vector</a:t>
            </a:r>
            <a:endParaRPr lang="en-US" sz="1400" dirty="0"/>
          </a:p>
        </p:txBody>
      </p:sp>
      <p:sp>
        <p:nvSpPr>
          <p:cNvPr id="20" name="DSDV details"/>
          <p:cNvSpPr txBox="1"/>
          <p:nvPr/>
        </p:nvSpPr>
        <p:spPr>
          <a:xfrm>
            <a:off x="8421624" y="2697480"/>
            <a:ext cx="2926080" cy="30175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Port</a:t>
            </a:r>
            <a:endParaRPr lang="en-US" sz="1600" dirty="0"/>
          </a:p>
          <a:p>
            <a:pPr indent="0" marL="0">
              <a:spcAft>
                <a:spcPts val="600"/>
              </a:spcAft>
              <a:buNone/>
            </a:pPr>
            <a:r>
              <a:rPr lang="en-US" sz="1600" dirty="0">
                <a:solidFill>
                  <a:schemeClr val="tx1"/>
                </a:solidFill>
              </a:rPr>
              <a:t>UDP port 269</a:t>
            </a:r>
            <a:endParaRPr lang="en-US" sz="1600" dirty="0"/>
          </a:p>
          <a:p>
            <a:pPr indent="0" marL="0">
              <a:spcAft>
                <a:spcPts val="600"/>
              </a:spcAft>
              <a:buNone/>
            </a:pPr>
            <a:r>
              <a:rPr lang="en-US" sz="1600" b="1" dirty="0">
                <a:solidFill>
                  <a:schemeClr val="tx1"/>
                </a:solidFill>
              </a:rPr>
              <a:t>Routes</a:t>
            </a:r>
            <a:endParaRPr lang="en-US" sz="1600" dirty="0"/>
          </a:p>
          <a:p>
            <a:pPr indent="0" marL="0">
              <a:spcAft>
                <a:spcPts val="600"/>
              </a:spcAft>
              <a:buNone/>
            </a:pPr>
            <a:r>
              <a:rPr lang="en-US" sz="1600" dirty="0">
                <a:solidFill>
                  <a:schemeClr val="tx1"/>
                </a:solidFill>
              </a:rPr>
              <a:t>Routes always in the table; buffers until a route appears</a:t>
            </a:r>
            <a:endParaRPr lang="en-US" sz="1600" dirty="0"/>
          </a:p>
          <a:p>
            <a:pPr indent="0" marL="0">
              <a:spcAft>
                <a:spcPts val="600"/>
              </a:spcAft>
              <a:buNone/>
            </a:pPr>
            <a:r>
              <a:rPr lang="en-US" sz="1600" b="1" dirty="0">
                <a:solidFill>
                  <a:schemeClr val="tx1"/>
                </a:solidFill>
              </a:rPr>
              <a:t>Control messages</a:t>
            </a:r>
            <a:endParaRPr lang="en-US" sz="1600" dirty="0"/>
          </a:p>
          <a:p>
            <a:pPr indent="0" marL="0">
              <a:spcAft>
                <a:spcPts val="600"/>
              </a:spcAft>
              <a:buNone/>
            </a:pPr>
            <a:r>
              <a:rPr lang="en-US" sz="1600" dirty="0">
                <a:solidFill>
                  <a:schemeClr val="tx1"/>
                </a:solidFill>
              </a:rPr>
              <a:t>Full update every 15 s plus triggered updates</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AODV finds routes on demand</a:t>
            </a:r>
            <a:endParaRPr lang="en-US" sz="3400" dirty="0"/>
          </a:p>
        </p:txBody>
      </p:sp>
      <p:pic>
        <p:nvPicPr>
          <p:cNvPr id="3" name="AODV discovery diagram" descr="AODV route discovery: S floods a route request through A, B and C; D replies along the reverse path C, A, S.">    </p:cNvPr>
          <p:cNvPicPr>
            <a:picLocks noChangeAspect="1"/>
          </p:cNvPicPr>
          <p:nvPr/>
        </p:nvPicPr>
        <p:blipFill>
          <a:blip r:embed="rId1"/>
          <a:stretch>
            <a:fillRect/>
          </a:stretch>
        </p:blipFill>
        <p:spPr>
          <a:xfrm>
            <a:off x="548640" y="1600200"/>
            <a:ext cx="6309360" cy="2688409"/>
          </a:xfrm>
          <a:prstGeom prst="rect">
            <a:avLst/>
          </a:prstGeom>
        </p:spPr>
      </p:pic>
      <p:sp>
        <p:nvSpPr>
          <p:cNvPr id="4" name="RREQ label"/>
          <p:cNvSpPr txBox="1"/>
          <p:nvPr/>
        </p:nvSpPr>
        <p:spPr>
          <a:xfrm>
            <a:off x="7315200" y="1417320"/>
            <a:ext cx="1188720" cy="411480"/>
          </a:xfrm>
          <a:prstGeom prst="rect">
            <a:avLst/>
          </a:prstGeom>
          <a:noFill/>
          <a:ln/>
        </p:spPr>
        <p:txBody>
          <a:bodyPr wrap="square" lIns="0" tIns="0" rIns="0" bIns="0" rtlCol="0" anchor="t"/>
          <a:lstStyle/>
          <a:p>
            <a:pPr indent="0" marL="0">
              <a:buNone/>
            </a:pPr>
            <a:r>
              <a:rPr lang="en-US" sz="1800" b="1" dirty="0">
                <a:solidFill>
                  <a:schemeClr val="accent1"/>
                </a:solidFill>
              </a:rPr>
              <a:t>RREQ</a:t>
            </a:r>
            <a:endParaRPr lang="en-US" sz="1800" dirty="0"/>
          </a:p>
        </p:txBody>
      </p:sp>
      <p:sp>
        <p:nvSpPr>
          <p:cNvPr id="5" name="RREQ text"/>
          <p:cNvSpPr txBox="1"/>
          <p:nvPr/>
        </p:nvSpPr>
        <p:spPr>
          <a:xfrm>
            <a:off x="8549640" y="1417320"/>
            <a:ext cx="3063240" cy="1005840"/>
          </a:xfrm>
          <a:prstGeom prst="rect">
            <a:avLst/>
          </a:prstGeom>
          <a:noFill/>
          <a:ln/>
        </p:spPr>
        <p:txBody>
          <a:bodyPr wrap="square" lIns="0" tIns="0" rIns="0" bIns="0" rtlCol="0" anchor="t"/>
          <a:lstStyle/>
          <a:p>
            <a:pPr indent="0" marL="0">
              <a:buNone/>
            </a:pPr>
            <a:r>
              <a:rPr lang="en-US" sz="1500" dirty="0">
                <a:solidFill>
                  <a:schemeClr val="tx1"/>
                </a:solidFill>
              </a:rPr>
              <a:t>The source broadcasts a route request; every node records a reverse route and rebroadcasts it.</a:t>
            </a:r>
            <a:endParaRPr lang="en-US" sz="1500" dirty="0"/>
          </a:p>
        </p:txBody>
      </p:sp>
      <p:sp>
        <p:nvSpPr>
          <p:cNvPr id="6" name="RREP label"/>
          <p:cNvSpPr txBox="1"/>
          <p:nvPr/>
        </p:nvSpPr>
        <p:spPr>
          <a:xfrm>
            <a:off x="7315200" y="2560320"/>
            <a:ext cx="1188720" cy="411480"/>
          </a:xfrm>
          <a:prstGeom prst="rect">
            <a:avLst/>
          </a:prstGeom>
          <a:noFill/>
          <a:ln/>
        </p:spPr>
        <p:txBody>
          <a:bodyPr wrap="square" lIns="0" tIns="0" rIns="0" bIns="0" rtlCol="0" anchor="t"/>
          <a:lstStyle/>
          <a:p>
            <a:pPr indent="0" marL="0">
              <a:buNone/>
            </a:pPr>
            <a:r>
              <a:rPr lang="en-US" sz="1800" b="1" dirty="0">
                <a:solidFill>
                  <a:schemeClr val="accent1"/>
                </a:solidFill>
              </a:rPr>
              <a:t>RREP</a:t>
            </a:r>
            <a:endParaRPr lang="en-US" sz="1800" dirty="0"/>
          </a:p>
        </p:txBody>
      </p:sp>
      <p:sp>
        <p:nvSpPr>
          <p:cNvPr id="7" name="RREP text"/>
          <p:cNvSpPr txBox="1"/>
          <p:nvPr/>
        </p:nvSpPr>
        <p:spPr>
          <a:xfrm>
            <a:off x="8549640" y="2560320"/>
            <a:ext cx="3063240" cy="1005840"/>
          </a:xfrm>
          <a:prstGeom prst="rect">
            <a:avLst/>
          </a:prstGeom>
          <a:noFill/>
          <a:ln/>
        </p:spPr>
        <p:txBody>
          <a:bodyPr wrap="square" lIns="0" tIns="0" rIns="0" bIns="0" rtlCol="0" anchor="t"/>
          <a:lstStyle/>
          <a:p>
            <a:pPr indent="0" marL="0">
              <a:buNone/>
            </a:pPr>
            <a:r>
              <a:rPr lang="en-US" sz="1500" dirty="0">
                <a:solidFill>
                  <a:schemeClr val="tx1"/>
                </a:solidFill>
              </a:rPr>
              <a:t>The destination replies by unicast along the reverse path, installing the forward route.</a:t>
            </a:r>
            <a:endParaRPr lang="en-US" sz="1500" dirty="0"/>
          </a:p>
        </p:txBody>
      </p:sp>
      <p:sp>
        <p:nvSpPr>
          <p:cNvPr id="8" name="RERR label"/>
          <p:cNvSpPr txBox="1"/>
          <p:nvPr/>
        </p:nvSpPr>
        <p:spPr>
          <a:xfrm>
            <a:off x="7315200" y="3703320"/>
            <a:ext cx="1188720" cy="411480"/>
          </a:xfrm>
          <a:prstGeom prst="rect">
            <a:avLst/>
          </a:prstGeom>
          <a:noFill/>
          <a:ln/>
        </p:spPr>
        <p:txBody>
          <a:bodyPr wrap="square" lIns="0" tIns="0" rIns="0" bIns="0" rtlCol="0" anchor="t"/>
          <a:lstStyle/>
          <a:p>
            <a:pPr indent="0" marL="0">
              <a:buNone/>
            </a:pPr>
            <a:r>
              <a:rPr lang="en-US" sz="1800" b="1" dirty="0">
                <a:solidFill>
                  <a:schemeClr val="accent1"/>
                </a:solidFill>
              </a:rPr>
              <a:t>RERR</a:t>
            </a:r>
            <a:endParaRPr lang="en-US" sz="1800" dirty="0"/>
          </a:p>
        </p:txBody>
      </p:sp>
      <p:sp>
        <p:nvSpPr>
          <p:cNvPr id="9" name="RERR text"/>
          <p:cNvSpPr txBox="1"/>
          <p:nvPr/>
        </p:nvSpPr>
        <p:spPr>
          <a:xfrm>
            <a:off x="8549640" y="3703320"/>
            <a:ext cx="3063240" cy="1005840"/>
          </a:xfrm>
          <a:prstGeom prst="rect">
            <a:avLst/>
          </a:prstGeom>
          <a:noFill/>
          <a:ln/>
        </p:spPr>
        <p:txBody>
          <a:bodyPr wrap="square" lIns="0" tIns="0" rIns="0" bIns="0" rtlCol="0" anchor="t"/>
          <a:lstStyle/>
          <a:p>
            <a:pPr indent="0" marL="0">
              <a:buNone/>
            </a:pPr>
            <a:r>
              <a:rPr lang="en-US" sz="1500" dirty="0">
                <a:solidFill>
                  <a:schemeClr val="tx1"/>
                </a:solidFill>
              </a:rPr>
              <a:t>When a link on an active route breaks, a route error tells the nodes using it.</a:t>
            </a:r>
            <a:endParaRPr lang="en-US" sz="1500" dirty="0"/>
          </a:p>
        </p:txBody>
      </p:sp>
      <p:sp>
        <p:nvSpPr>
          <p:cNvPr id="10" name="Seq. no. label"/>
          <p:cNvSpPr txBox="1"/>
          <p:nvPr/>
        </p:nvSpPr>
        <p:spPr>
          <a:xfrm>
            <a:off x="7315200" y="4846320"/>
            <a:ext cx="1188720" cy="411480"/>
          </a:xfrm>
          <a:prstGeom prst="rect">
            <a:avLst/>
          </a:prstGeom>
          <a:noFill/>
          <a:ln/>
        </p:spPr>
        <p:txBody>
          <a:bodyPr wrap="square" lIns="0" tIns="0" rIns="0" bIns="0" rtlCol="0" anchor="t"/>
          <a:lstStyle/>
          <a:p>
            <a:pPr indent="0" marL="0">
              <a:buNone/>
            </a:pPr>
            <a:r>
              <a:rPr lang="en-US" sz="1800" b="1" dirty="0">
                <a:solidFill>
                  <a:schemeClr val="accent1"/>
                </a:solidFill>
              </a:rPr>
              <a:t>Seq. no.</a:t>
            </a:r>
            <a:endParaRPr lang="en-US" sz="1800" dirty="0"/>
          </a:p>
        </p:txBody>
      </p:sp>
      <p:sp>
        <p:nvSpPr>
          <p:cNvPr id="11" name="Seq. no. text"/>
          <p:cNvSpPr txBox="1"/>
          <p:nvPr/>
        </p:nvSpPr>
        <p:spPr>
          <a:xfrm>
            <a:off x="8549640" y="4846320"/>
            <a:ext cx="3063240" cy="1005840"/>
          </a:xfrm>
          <a:prstGeom prst="rect">
            <a:avLst/>
          </a:prstGeom>
          <a:noFill/>
          <a:ln/>
        </p:spPr>
        <p:txBody>
          <a:bodyPr wrap="square" lIns="0" tIns="0" rIns="0" bIns="0" rtlCol="0" anchor="t"/>
          <a:lstStyle/>
          <a:p>
            <a:pPr indent="0" marL="0">
              <a:buNone/>
            </a:pPr>
            <a:r>
              <a:rPr lang="en-US" sz="1500" dirty="0">
                <a:solidFill>
                  <a:schemeClr val="tx1"/>
                </a:solidFill>
              </a:rPr>
              <a:t>Destination sequence numbers keep routes fresh and loop-free.</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Research gap and problem statement</a:t>
            </a:r>
            <a:endParaRPr lang="en-US" sz="3400" dirty="0"/>
          </a:p>
        </p:txBody>
      </p:sp>
      <p:sp>
        <p:nvSpPr>
          <p:cNvPr id="3" name="gap card"/>
          <p:cNvSpPr/>
          <p:nvPr/>
        </p:nvSpPr>
        <p:spPr>
          <a:xfrm>
            <a:off x="548640" y="1371600"/>
            <a:ext cx="5349240" cy="4526280"/>
          </a:xfrm>
          <a:prstGeom prst="roundRect">
            <a:avLst>
              <a:gd name="adj" fmla="val 2424"/>
            </a:avLst>
          </a:prstGeom>
          <a:solidFill>
            <a:schemeClr val="bg2"/>
          </a:solidFill>
          <a:ln/>
        </p:spPr>
      </p:sp>
      <p:sp>
        <p:nvSpPr>
          <p:cNvPr id="4" name="gap circle"/>
          <p:cNvSpPr/>
          <p:nvPr/>
        </p:nvSpPr>
        <p:spPr>
          <a:xfrm>
            <a:off x="868680" y="1691640"/>
            <a:ext cx="731520" cy="731520"/>
          </a:xfrm>
          <a:prstGeom prst="ellipse">
            <a:avLst/>
          </a:prstGeom>
          <a:solidFill>
            <a:schemeClr val="accent4"/>
          </a:solidFill>
          <a:ln/>
        </p:spPr>
      </p:sp>
      <p:pic>
        <p:nvPicPr>
          <p:cNvPr id="5" name="gap icon" descr="preencoded.png">    </p:cNvPr>
          <p:cNvPicPr>
            <a:picLocks noChangeAspect="1"/>
          </p:cNvPicPr>
          <p:nvPr/>
        </p:nvPicPr>
        <p:blipFill>
          <a:blip r:embed="rId1"/>
          <a:stretch>
            <a:fillRect/>
          </a:stretch>
        </p:blipFill>
        <p:spPr>
          <a:xfrm>
            <a:off x="1051560" y="1874520"/>
            <a:ext cx="365760" cy="365760"/>
          </a:xfrm>
          <a:prstGeom prst="rect">
            <a:avLst/>
          </a:prstGeom>
        </p:spPr>
      </p:pic>
      <p:sp>
        <p:nvSpPr>
          <p:cNvPr id="6" name="gap title"/>
          <p:cNvSpPr txBox="1"/>
          <p:nvPr/>
        </p:nvSpPr>
        <p:spPr>
          <a:xfrm>
            <a:off x="1783080" y="1783080"/>
            <a:ext cx="3840480" cy="54864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Research gap</a:t>
            </a:r>
            <a:endParaRPr lang="en-US" sz="2400" dirty="0"/>
          </a:p>
        </p:txBody>
      </p:sp>
      <p:sp>
        <p:nvSpPr>
          <p:cNvPr id="7" name="gap points"/>
          <p:cNvSpPr txBox="1"/>
          <p:nvPr/>
        </p:nvSpPr>
        <p:spPr>
          <a:xfrm>
            <a:off x="868680" y="2651760"/>
            <a:ext cx="475488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Results change with density, mobility and load, so rankings depend on the scenario</a:t>
            </a:r>
            <a:endParaRPr lang="en-US" sz="1600" dirty="0"/>
          </a:p>
          <a:p>
            <a:pPr marL="342900" indent="-342900">
              <a:spcAft>
                <a:spcPts val="1000"/>
              </a:spcAft>
              <a:buSzPct val="100000"/>
              <a:buChar char="•"/>
            </a:pPr>
            <a:r>
              <a:rPr lang="en-US" sz="1600" dirty="0">
                <a:solidFill>
                  <a:schemeClr val="tx1"/>
                </a:solidFill>
              </a:rPr>
              <a:t>Many MANET simulations cannot be repeated or report no spread</a:t>
            </a:r>
            <a:endParaRPr lang="en-US" sz="1600" dirty="0"/>
          </a:p>
          <a:p>
            <a:pPr marL="342900" indent="-342900">
              <a:spcAft>
                <a:spcPts val="1000"/>
              </a:spcAft>
              <a:buSzPct val="100000"/>
              <a:buChar char="•"/>
            </a:pPr>
            <a:r>
              <a:rPr lang="en-US" sz="1600" dirty="0">
                <a:solidFill>
                  <a:schemeClr val="tx1"/>
                </a:solidFill>
              </a:rPr>
              <a:t>New AODV variants are all judged against standard AODV, so a reproducible baseline comparison is needed</a:t>
            </a:r>
            <a:endParaRPr lang="en-US" sz="1600" dirty="0"/>
          </a:p>
        </p:txBody>
      </p:sp>
      <p:sp>
        <p:nvSpPr>
          <p:cNvPr id="8" name="problem card"/>
          <p:cNvSpPr/>
          <p:nvPr/>
        </p:nvSpPr>
        <p:spPr>
          <a:xfrm>
            <a:off x="6263640" y="1371600"/>
            <a:ext cx="5349240" cy="4526280"/>
          </a:xfrm>
          <a:prstGeom prst="roundRect">
            <a:avLst>
              <a:gd name="adj" fmla="val 2424"/>
            </a:avLst>
          </a:prstGeom>
          <a:solidFill>
            <a:schemeClr val="tx2"/>
          </a:solidFill>
          <a:ln/>
        </p:spPr>
      </p:sp>
      <p:sp>
        <p:nvSpPr>
          <p:cNvPr id="9" name="problem circle"/>
          <p:cNvSpPr/>
          <p:nvPr/>
        </p:nvSpPr>
        <p:spPr>
          <a:xfrm>
            <a:off x="6583680" y="1691640"/>
            <a:ext cx="731520" cy="731520"/>
          </a:xfrm>
          <a:prstGeom prst="ellipse">
            <a:avLst/>
          </a:prstGeom>
          <a:solidFill>
            <a:schemeClr val="accent6"/>
          </a:solidFill>
          <a:ln/>
        </p:spPr>
      </p:sp>
      <p:pic>
        <p:nvPicPr>
          <p:cNvPr id="10" name="problem icon" descr="preencoded.png">    </p:cNvPr>
          <p:cNvPicPr>
            <a:picLocks noChangeAspect="1"/>
          </p:cNvPicPr>
          <p:nvPr/>
        </p:nvPicPr>
        <p:blipFill>
          <a:blip r:embed="rId2"/>
          <a:stretch>
            <a:fillRect/>
          </a:stretch>
        </p:blipFill>
        <p:spPr>
          <a:xfrm>
            <a:off x="6766560" y="1874520"/>
            <a:ext cx="365760" cy="365760"/>
          </a:xfrm>
          <a:prstGeom prst="rect">
            <a:avLst/>
          </a:prstGeom>
        </p:spPr>
      </p:pic>
      <p:sp>
        <p:nvSpPr>
          <p:cNvPr id="11" name="problem title"/>
          <p:cNvSpPr txBox="1"/>
          <p:nvPr/>
        </p:nvSpPr>
        <p:spPr>
          <a:xfrm>
            <a:off x="7498080" y="1783080"/>
            <a:ext cx="3840480" cy="54864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Problem statement</a:t>
            </a:r>
            <a:endParaRPr lang="en-US" sz="2400" dirty="0"/>
          </a:p>
        </p:txBody>
      </p:sp>
      <p:sp>
        <p:nvSpPr>
          <p:cNvPr id="12" name="problem text"/>
          <p:cNvSpPr txBox="1"/>
          <p:nvPr/>
        </p:nvSpPr>
        <p:spPr>
          <a:xfrm>
            <a:off x="6583680" y="2651760"/>
            <a:ext cx="4754880" cy="3017520"/>
          </a:xfrm>
          <a:prstGeom prst="rect">
            <a:avLst/>
          </a:prstGeom>
          <a:noFill/>
          <a:ln/>
        </p:spPr>
        <p:txBody>
          <a:bodyPr wrap="square" lIns="0" tIns="0" rIns="0" bIns="0" rtlCol="0" anchor="t"/>
          <a:lstStyle/>
          <a:p>
            <a:pPr indent="0" marL="0">
              <a:buNone/>
            </a:pPr>
            <a:r>
              <a:rPr lang="en-US" sz="1600" dirty="0">
                <a:solidFill>
                  <a:schemeClr val="bg1"/>
                </a:solidFill>
              </a:rPr>
              <a:t>Implement a MANET in ns-3.48 with a UDP client–server application and determine, with repeated runs and statistical confidence, how AODV’s delivery, delay, jitter and overhead change with density, speed and load, and how it compares with OLSR and DSDV on the same topologies.</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a:t>
            </a:r>
            <a:endParaRPr lang="en-US" sz="3400" dirty="0"/>
          </a:p>
        </p:txBody>
      </p:sp>
      <p:pic>
        <p:nvPicPr>
          <p:cNvPr id="3" name="architecture diagram" descr="Protocol stacks of the source, a relay and the destination above a shared wireless channel, with the path of a data packet.">    </p:cNvPr>
          <p:cNvPicPr>
            <a:picLocks noChangeAspect="1"/>
          </p:cNvPicPr>
          <p:nvPr/>
        </p:nvPicPr>
        <p:blipFill>
          <a:blip r:embed="rId1"/>
          <a:stretch>
            <a:fillRect/>
          </a:stretch>
        </p:blipFill>
        <p:spPr>
          <a:xfrm>
            <a:off x="548640" y="1325880"/>
            <a:ext cx="7863840" cy="4606311"/>
          </a:xfrm>
          <a:prstGeom prst="rect">
            <a:avLst/>
          </a:prstGeom>
        </p:spPr>
      </p:pic>
      <p:sp>
        <p:nvSpPr>
          <p:cNvPr id="4" name="architecture notes"/>
          <p:cNvSpPr txBox="1"/>
          <p:nvPr/>
        </p:nvSpPr>
        <p:spPr>
          <a:xfrm>
            <a:off x="8778240" y="1463040"/>
            <a:ext cx="2834640" cy="448056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Every node runs the same stack: 802.11b ad-hoc Wi-Fi, IPv4 with the routing protocol, UDP and the ns-3 socket API</a:t>
            </a:r>
            <a:endParaRPr lang="en-US" sz="1500" dirty="0"/>
          </a:p>
          <a:p>
            <a:pPr marL="342900" indent="-342900">
              <a:spcAft>
                <a:spcPts val="1200"/>
              </a:spcAft>
              <a:buSzPct val="100000"/>
              <a:buChar char="•"/>
            </a:pPr>
            <a:r>
              <a:rPr lang="en-US" sz="1500" dirty="0">
                <a:solidFill>
                  <a:schemeClr val="tx1"/>
                </a:solidFill>
              </a:rPr>
              <a:t>Relays forward data at the IPv4 layer using the protocol’s routes</a:t>
            </a:r>
            <a:endParaRPr lang="en-US" sz="1500" dirty="0"/>
          </a:p>
          <a:p>
            <a:pPr marL="342900" indent="-342900">
              <a:spcAft>
                <a:spcPts val="1200"/>
              </a:spcAft>
              <a:buSzPct val="100000"/>
              <a:buChar char="•"/>
            </a:pPr>
            <a:r>
              <a:rPr lang="en-US" sz="1500" dirty="0">
                <a:solidFill>
                  <a:schemeClr val="tx1"/>
                </a:solidFill>
              </a:rPr>
              <a:t>FlowMonitor measures the data flow; packet traces count control packets</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Socket programming in the simulation</a:t>
            </a:r>
            <a:endParaRPr lang="en-US" sz="3400" dirty="0"/>
          </a:p>
        </p:txBody>
      </p:sp>
      <p:graphicFrame>
        <p:nvGraphicFramePr>
          <p:cNvPr id="9" name="socket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4572000"/>
                <a:gridCol w="3840480"/>
              </a:tblGrid>
              <a:tr h="475488">
                <a:tc>
                  <a:txBody>
                    <a:bodyPr/>
                    <a:lstStyle/>
                    <a:p>
                      <a:pPr indent="0" marL="0">
                        <a:buNone/>
                      </a:pPr>
                      <a:r>
                        <a:rPr lang="en-US" sz="1500" b="1" dirty="0">
                          <a:solidFill>
                            <a:schemeClr val="bg1"/>
                          </a:solidFill>
                        </a:rPr>
                        <a:t>BSD socket call</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ns-3 Socket API</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Use in this project</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tx2"/>
                    </a:solidFill>
                  </a:tcPr>
                </a:tc>
              </a:tr>
              <a:tr h="47548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socket()</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Socket::CreateSocket(node, UdpSocketFactory)</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Client, server and routing sockets</a:t>
                      </a:r>
                      <a:endParaRPr lang="en-US" sz="1500" dirty="0">
                        <a:latin typeface="Calibri" charset="0"/>
                        <a:ea typeface="Calibri" charset="0"/>
                        <a:cs typeface="Calibri"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bind()</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Bind(InetSocketAddress(addr, port))</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Server port 9; routing 654 / 698 / 269</a:t>
                      </a:r>
                      <a:endParaRPr lang="en-US" sz="1500" dirty="0">
                        <a:latin typeface="Calibri" charset="0"/>
                        <a:ea typeface="Calibri" charset="0"/>
                        <a:cs typeface="Calibri"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connect()</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Connect(InetSocketAddress(dst, 9))</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Client fixes the server address</a:t>
                      </a:r>
                      <a:endParaRPr lang="en-US" sz="1500" dirty="0">
                        <a:latin typeface="Calibri" charset="0"/>
                        <a:ea typeface="Calibri" charset="0"/>
                        <a:cs typeface="Calibri"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send() / sendto()</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Send(packet) / SendTo(packet, 0, dst)</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Data every 1/λ s; routing messages</a:t>
                      </a:r>
                      <a:endParaRPr lang="en-US" sz="1500" dirty="0">
                        <a:latin typeface="Calibri" charset="0"/>
                        <a:ea typeface="Calibri" charset="0"/>
                        <a:cs typeface="Calibri"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recvfrom()</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RecvFrom(from) in a receive callback</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Server counts packets; routing reads updates</a:t>
                      </a:r>
                      <a:endParaRPr lang="en-US" sz="1500" dirty="0">
                        <a:latin typeface="Calibri" charset="0"/>
                        <a:ea typeface="Calibri" charset="0"/>
                        <a:cs typeface="Calibri"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setsockopt(SO_BROADCAST)</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SetAllowBroadcast(true)</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RREQ, HELLO and update broadcasts</a:t>
                      </a:r>
                      <a:endParaRPr lang="en-US" sz="1500" dirty="0">
                        <a:latin typeface="Calibri" charset="0"/>
                        <a:ea typeface="Calibri" charset="0"/>
                        <a:cs typeface="Calibri" charset="0"/>
                      </a:endParaRPr>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4" name="socket note card"/>
          <p:cNvSpPr/>
          <p:nvPr/>
        </p:nvSpPr>
        <p:spPr>
          <a:xfrm>
            <a:off x="548640" y="5029200"/>
            <a:ext cx="11064240" cy="1005840"/>
          </a:xfrm>
          <a:prstGeom prst="roundRect">
            <a:avLst>
              <a:gd name="adj" fmla="val 10909"/>
            </a:avLst>
          </a:prstGeom>
          <a:solidFill>
            <a:schemeClr val="bg2"/>
          </a:solidFill>
          <a:ln/>
        </p:spPr>
      </p:sp>
      <p:sp>
        <p:nvSpPr>
          <p:cNvPr id="5" name="socket note"/>
          <p:cNvSpPr txBox="1"/>
          <p:nvPr/>
        </p:nvSpPr>
        <p:spPr>
          <a:xfrm>
            <a:off x="822960" y="5138928"/>
            <a:ext cx="10515600" cy="822960"/>
          </a:xfrm>
          <a:prstGeom prst="rect">
            <a:avLst/>
          </a:prstGeom>
          <a:noFill/>
          <a:ln/>
        </p:spPr>
        <p:txBody>
          <a:bodyPr wrap="square" lIns="0" tIns="0" rIns="0" bIns="0" rtlCol="0" anchor="ctr"/>
          <a:lstStyle/>
          <a:p>
            <a:pPr indent="0" marL="0">
              <a:buNone/>
            </a:pPr>
            <a:r>
              <a:rPr lang="en-US" sz="1500" dirty="0">
                <a:solidFill>
                  <a:schemeClr val="tx1"/>
                </a:solidFill>
              </a:rPr>
              <a:t>ns-3 has no kernel, so these are C++ calls on simulated sockets. Nothing may block in a discrete-event simulator, so reception is event-driven through SetRecvCallback() instead of a blocking recvfrom().</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Experimental setup</a:t>
            </a:r>
            <a:endParaRPr lang="en-US" sz="3400" dirty="0"/>
          </a:p>
        </p:txBody>
      </p:sp>
      <p:graphicFrame>
        <p:nvGraphicFramePr>
          <p:cNvPr id="10" name="parameter table"/>
          <p:cNvGraphicFramePr>
            <a:graphicFrameLocks noGrp="1"/>
          </p:cNvGraphicFramePr>
          <p:nvPr>
            <p:extLst>
              <p:ext uri="{D42A27DB-BD31-4B8C-83A1-F6EECF244321}">
                <p14:modId xmlns:p14="http://schemas.microsoft.com/office/powerpoint/2010/main" val="1579011935"/>
              </p:ext>
            </p:extLst>
          </p:nvPr>
        </p:nvGraphicFramePr>
        <p:xfrm>
          <a:off x="548640" y="1371600"/>
          <a:ext cx="6217920" cy="914400"/>
        </p:xfrm>
        <a:graphic>
          <a:graphicData uri="http://schemas.openxmlformats.org/drawingml/2006/table">
            <a:tbl>
              <a:tblPr/>
              <a:tblGrid>
                <a:gridCol w="1737360"/>
                <a:gridCol w="4480560"/>
              </a:tblGrid>
              <a:tr h="566928">
                <a:tc>
                  <a:txBody>
                    <a:bodyPr/>
                    <a:lstStyle/>
                    <a:p>
                      <a:pPr indent="0" marL="0">
                        <a:buNone/>
                      </a:pPr>
                      <a:r>
                        <a:rPr lang="en-US" sz="1500" b="1" dirty="0">
                          <a:solidFill>
                            <a:schemeClr val="tx1"/>
                          </a:solidFill>
                        </a:rPr>
                        <a:t>Simulator</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ns-3.48 (C++)</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566928">
                <a:tc>
                  <a:txBody>
                    <a:bodyPr/>
                    <a:lstStyle/>
                    <a:p>
                      <a:pPr indent="0" marL="0">
                        <a:buNone/>
                      </a:pPr>
                      <a:r>
                        <a:rPr lang="en-US" sz="1500" b="1" dirty="0">
                          <a:solidFill>
                            <a:schemeClr val="tx1"/>
                          </a:solidFill>
                        </a:rPr>
                        <a:t>Area, nodes</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700 m × 700 m, 10 nodes</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566928">
                <a:tc>
                  <a:txBody>
                    <a:bodyPr/>
                    <a:lstStyle/>
                    <a:p>
                      <a:pPr indent="0" marL="0">
                        <a:buNone/>
                      </a:pPr>
                      <a:r>
                        <a:rPr lang="en-US" sz="1500" b="1" dirty="0">
                          <a:solidFill>
                            <a:schemeClr val="tx1"/>
                          </a:solidFill>
                        </a:rPr>
                        <a:t>Wi-Fi</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802.11b ad-hoc, 11 Mbps, 250 m range</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566928">
                <a:tc>
                  <a:txBody>
                    <a:bodyPr/>
                    <a:lstStyle/>
                    <a:p>
                      <a:pPr indent="0" marL="0">
                        <a:buNone/>
                      </a:pPr>
                      <a:r>
                        <a:rPr lang="en-US" sz="1500" b="1" dirty="0">
                          <a:solidFill>
                            <a:schemeClr val="tx1"/>
                          </a:solidFill>
                        </a:rPr>
                        <a:t>Mobility</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Random Waypoint, 5 m/s, 0 s pause</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566928">
                <a:tc>
                  <a:txBody>
                    <a:bodyPr/>
                    <a:lstStyle/>
                    <a:p>
                      <a:pPr indent="0" marL="0">
                        <a:buNone/>
                      </a:pPr>
                      <a:r>
                        <a:rPr lang="en-US" sz="1500" b="1" dirty="0">
                          <a:solidFill>
                            <a:schemeClr val="tx1"/>
                          </a:solidFill>
                        </a:rPr>
                        <a:t>Traffic</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UDP CBR, 512 B, 4 packets/s, node 0 → N−1</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566928">
                <a:tc>
                  <a:txBody>
                    <a:bodyPr/>
                    <a:lstStyle/>
                    <a:p>
                      <a:pPr indent="0" marL="0">
                        <a:buNone/>
                      </a:pPr>
                      <a:r>
                        <a:rPr lang="en-US" sz="1500" b="1" dirty="0">
                          <a:solidFill>
                            <a:schemeClr val="tx1"/>
                          </a:solidFill>
                        </a:rPr>
                        <a:t>Time</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60 s (traffic 2–59 s)</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r h="566928">
                <a:tc>
                  <a:txBody>
                    <a:bodyPr/>
                    <a:lstStyle/>
                    <a:p>
                      <a:pPr indent="0" marL="0">
                        <a:buNone/>
                      </a:pPr>
                      <a:r>
                        <a:rPr lang="en-US" sz="1500" b="1" dirty="0">
                          <a:solidFill>
                            <a:schemeClr val="tx1"/>
                          </a:solidFill>
                        </a:rPr>
                        <a:t>Repetitions</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10 runs; run k = same topology for all protocols</a:t>
                      </a:r>
                      <a:endParaRPr lang="en-US" sz="1500" dirty="0"/>
                    </a:p>
                  </a:txBody>
                  <a:tcPr marL="109728" marR="109728" marT="36576" marB="36576"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chemeClr val="bg1"/>
                    </a:solidFill>
                  </a:tcPr>
                </a:tc>
              </a:tr>
            </a:tbl>
          </a:graphicData>
        </a:graphic>
      </p:graphicFrame>
      <p:sp>
        <p:nvSpPr>
          <p:cNvPr id="4" name="experiment A card"/>
          <p:cNvSpPr/>
          <p:nvPr/>
        </p:nvSpPr>
        <p:spPr>
          <a:xfrm>
            <a:off x="7132320" y="1371600"/>
            <a:ext cx="4480560" cy="1188720"/>
          </a:xfrm>
          <a:prstGeom prst="roundRect">
            <a:avLst>
              <a:gd name="adj" fmla="val 9231"/>
            </a:avLst>
          </a:prstGeom>
          <a:solidFill>
            <a:schemeClr val="bg2"/>
          </a:solidFill>
          <a:ln/>
        </p:spPr>
      </p:sp>
      <p:sp>
        <p:nvSpPr>
          <p:cNvPr id="5" name="experiment A circle"/>
          <p:cNvSpPr/>
          <p:nvPr/>
        </p:nvSpPr>
        <p:spPr>
          <a:xfrm>
            <a:off x="7360920" y="1645920"/>
            <a:ext cx="640080" cy="640080"/>
          </a:xfrm>
          <a:prstGeom prst="ellipse">
            <a:avLst/>
          </a:prstGeom>
          <a:solidFill>
            <a:schemeClr val="accent1"/>
          </a:solidFill>
          <a:ln/>
        </p:spPr>
      </p:sp>
      <p:sp>
        <p:nvSpPr>
          <p:cNvPr id="6" name="experiment A letter"/>
          <p:cNvSpPr txBox="1"/>
          <p:nvPr/>
        </p:nvSpPr>
        <p:spPr>
          <a:xfrm>
            <a:off x="7360920" y="16459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A</a:t>
            </a:r>
            <a:endParaRPr lang="en-US" sz="2200" dirty="0"/>
          </a:p>
        </p:txBody>
      </p:sp>
      <p:sp>
        <p:nvSpPr>
          <p:cNvPr id="7" name="experiment A name"/>
          <p:cNvSpPr txBox="1"/>
          <p:nvPr/>
        </p:nvSpPr>
        <p:spPr>
          <a:xfrm>
            <a:off x="8229600" y="1572768"/>
            <a:ext cx="3200400" cy="411480"/>
          </a:xfrm>
          <a:prstGeom prst="rect">
            <a:avLst/>
          </a:prstGeom>
          <a:noFill/>
          <a:ln/>
        </p:spPr>
        <p:txBody>
          <a:bodyPr wrap="square" lIns="0" tIns="0" rIns="0" bIns="0" rtlCol="0" anchor="t"/>
          <a:lstStyle/>
          <a:p>
            <a:pPr indent="0" marL="0">
              <a:buNone/>
            </a:pPr>
            <a:r>
              <a:rPr lang="en-US" sz="1900" b="1" dirty="0">
                <a:solidFill>
                  <a:schemeClr val="tx2"/>
                </a:solidFill>
              </a:rPr>
              <a:t>Number of nodes</a:t>
            </a:r>
            <a:endParaRPr lang="en-US" sz="1900" dirty="0"/>
          </a:p>
        </p:txBody>
      </p:sp>
      <p:sp>
        <p:nvSpPr>
          <p:cNvPr id="8" name="experiment A values"/>
          <p:cNvSpPr txBox="1"/>
          <p:nvPr/>
        </p:nvSpPr>
        <p:spPr>
          <a:xfrm>
            <a:off x="8229600" y="2011680"/>
            <a:ext cx="3200400" cy="365760"/>
          </a:xfrm>
          <a:prstGeom prst="rect">
            <a:avLst/>
          </a:prstGeom>
          <a:noFill/>
          <a:ln/>
        </p:spPr>
        <p:txBody>
          <a:bodyPr wrap="square" lIns="0" tIns="0" rIns="0" bIns="0" rtlCol="0" anchor="t"/>
          <a:lstStyle/>
          <a:p>
            <a:pPr indent="0" marL="0">
              <a:buNone/>
            </a:pPr>
            <a:r>
              <a:rPr lang="en-US" sz="1600" dirty="0">
                <a:solidFill>
                  <a:schemeClr val="accent5"/>
                </a:solidFill>
              </a:rPr>
              <a:t>5, 10, 15, 20</a:t>
            </a:r>
            <a:endParaRPr lang="en-US" sz="1600" dirty="0"/>
          </a:p>
        </p:txBody>
      </p:sp>
      <p:sp>
        <p:nvSpPr>
          <p:cNvPr id="9" name="experiment B card"/>
          <p:cNvSpPr/>
          <p:nvPr/>
        </p:nvSpPr>
        <p:spPr>
          <a:xfrm>
            <a:off x="7132320" y="2743200"/>
            <a:ext cx="4480560" cy="1188720"/>
          </a:xfrm>
          <a:prstGeom prst="roundRect">
            <a:avLst>
              <a:gd name="adj" fmla="val 9231"/>
            </a:avLst>
          </a:prstGeom>
          <a:solidFill>
            <a:schemeClr val="bg2"/>
          </a:solidFill>
          <a:ln/>
        </p:spPr>
      </p:sp>
      <p:sp>
        <p:nvSpPr>
          <p:cNvPr id="10" name="experiment B circle"/>
          <p:cNvSpPr/>
          <p:nvPr/>
        </p:nvSpPr>
        <p:spPr>
          <a:xfrm>
            <a:off x="7360920" y="3017520"/>
            <a:ext cx="640080" cy="640080"/>
          </a:xfrm>
          <a:prstGeom prst="ellipse">
            <a:avLst/>
          </a:prstGeom>
          <a:solidFill>
            <a:schemeClr val="accent1"/>
          </a:solidFill>
          <a:ln/>
        </p:spPr>
      </p:sp>
      <p:sp>
        <p:nvSpPr>
          <p:cNvPr id="11" name="experiment B letter"/>
          <p:cNvSpPr txBox="1"/>
          <p:nvPr/>
        </p:nvSpPr>
        <p:spPr>
          <a:xfrm>
            <a:off x="7360920" y="30175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B</a:t>
            </a:r>
            <a:endParaRPr lang="en-US" sz="2200" dirty="0"/>
          </a:p>
        </p:txBody>
      </p:sp>
      <p:sp>
        <p:nvSpPr>
          <p:cNvPr id="12" name="experiment B name"/>
          <p:cNvSpPr txBox="1"/>
          <p:nvPr/>
        </p:nvSpPr>
        <p:spPr>
          <a:xfrm>
            <a:off x="8229600" y="2944368"/>
            <a:ext cx="3200400" cy="411480"/>
          </a:xfrm>
          <a:prstGeom prst="rect">
            <a:avLst/>
          </a:prstGeom>
          <a:noFill/>
          <a:ln/>
        </p:spPr>
        <p:txBody>
          <a:bodyPr wrap="square" lIns="0" tIns="0" rIns="0" bIns="0" rtlCol="0" anchor="t"/>
          <a:lstStyle/>
          <a:p>
            <a:pPr indent="0" marL="0">
              <a:buNone/>
            </a:pPr>
            <a:r>
              <a:rPr lang="en-US" sz="1900" b="1" dirty="0">
                <a:solidFill>
                  <a:schemeClr val="tx2"/>
                </a:solidFill>
              </a:rPr>
              <a:t>Node speed</a:t>
            </a:r>
            <a:endParaRPr lang="en-US" sz="1900" dirty="0"/>
          </a:p>
        </p:txBody>
      </p:sp>
      <p:sp>
        <p:nvSpPr>
          <p:cNvPr id="13" name="experiment B values"/>
          <p:cNvSpPr txBox="1"/>
          <p:nvPr/>
        </p:nvSpPr>
        <p:spPr>
          <a:xfrm>
            <a:off x="8229600" y="3383280"/>
            <a:ext cx="3200400" cy="365760"/>
          </a:xfrm>
          <a:prstGeom prst="rect">
            <a:avLst/>
          </a:prstGeom>
          <a:noFill/>
          <a:ln/>
        </p:spPr>
        <p:txBody>
          <a:bodyPr wrap="square" lIns="0" tIns="0" rIns="0" bIns="0" rtlCol="0" anchor="t"/>
          <a:lstStyle/>
          <a:p>
            <a:pPr indent="0" marL="0">
              <a:buNone/>
            </a:pPr>
            <a:r>
              <a:rPr lang="en-US" sz="1600" dirty="0">
                <a:solidFill>
                  <a:schemeClr val="accent5"/>
                </a:solidFill>
              </a:rPr>
              <a:t>1, 5, 10, 15 m/s</a:t>
            </a:r>
            <a:endParaRPr lang="en-US" sz="1600" dirty="0"/>
          </a:p>
        </p:txBody>
      </p:sp>
      <p:sp>
        <p:nvSpPr>
          <p:cNvPr id="14" name="experiment C card"/>
          <p:cNvSpPr/>
          <p:nvPr/>
        </p:nvSpPr>
        <p:spPr>
          <a:xfrm>
            <a:off x="7132320" y="4114800"/>
            <a:ext cx="4480560" cy="1188720"/>
          </a:xfrm>
          <a:prstGeom prst="roundRect">
            <a:avLst>
              <a:gd name="adj" fmla="val 9231"/>
            </a:avLst>
          </a:prstGeom>
          <a:solidFill>
            <a:schemeClr val="bg2"/>
          </a:solidFill>
          <a:ln/>
        </p:spPr>
      </p:sp>
      <p:sp>
        <p:nvSpPr>
          <p:cNvPr id="15" name="experiment C circle"/>
          <p:cNvSpPr/>
          <p:nvPr/>
        </p:nvSpPr>
        <p:spPr>
          <a:xfrm>
            <a:off x="7360920" y="4389120"/>
            <a:ext cx="640080" cy="640080"/>
          </a:xfrm>
          <a:prstGeom prst="ellipse">
            <a:avLst/>
          </a:prstGeom>
          <a:solidFill>
            <a:schemeClr val="accent1"/>
          </a:solidFill>
          <a:ln/>
        </p:spPr>
      </p:sp>
      <p:sp>
        <p:nvSpPr>
          <p:cNvPr id="16" name="experiment C letter"/>
          <p:cNvSpPr txBox="1"/>
          <p:nvPr/>
        </p:nvSpPr>
        <p:spPr>
          <a:xfrm>
            <a:off x="7360920" y="43891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C</a:t>
            </a:r>
            <a:endParaRPr lang="en-US" sz="2200" dirty="0"/>
          </a:p>
        </p:txBody>
      </p:sp>
      <p:sp>
        <p:nvSpPr>
          <p:cNvPr id="17" name="experiment C name"/>
          <p:cNvSpPr txBox="1"/>
          <p:nvPr/>
        </p:nvSpPr>
        <p:spPr>
          <a:xfrm>
            <a:off x="8229600" y="4315968"/>
            <a:ext cx="3200400" cy="411480"/>
          </a:xfrm>
          <a:prstGeom prst="rect">
            <a:avLst/>
          </a:prstGeom>
          <a:noFill/>
          <a:ln/>
        </p:spPr>
        <p:txBody>
          <a:bodyPr wrap="square" lIns="0" tIns="0" rIns="0" bIns="0" rtlCol="0" anchor="t"/>
          <a:lstStyle/>
          <a:p>
            <a:pPr indent="0" marL="0">
              <a:buNone/>
            </a:pPr>
            <a:r>
              <a:rPr lang="en-US" sz="1900" b="1" dirty="0">
                <a:solidFill>
                  <a:schemeClr val="tx2"/>
                </a:solidFill>
              </a:rPr>
              <a:t>Traffic load</a:t>
            </a:r>
            <a:endParaRPr lang="en-US" sz="1900" dirty="0"/>
          </a:p>
        </p:txBody>
      </p:sp>
      <p:sp>
        <p:nvSpPr>
          <p:cNvPr id="18" name="experiment C values"/>
          <p:cNvSpPr txBox="1"/>
          <p:nvPr/>
        </p:nvSpPr>
        <p:spPr>
          <a:xfrm>
            <a:off x="8229600" y="4754880"/>
            <a:ext cx="3200400" cy="365760"/>
          </a:xfrm>
          <a:prstGeom prst="rect">
            <a:avLst/>
          </a:prstGeom>
          <a:noFill/>
          <a:ln/>
        </p:spPr>
        <p:txBody>
          <a:bodyPr wrap="square" lIns="0" tIns="0" rIns="0" bIns="0" rtlCol="0" anchor="t"/>
          <a:lstStyle/>
          <a:p>
            <a:pPr indent="0" marL="0">
              <a:buNone/>
            </a:pPr>
            <a:r>
              <a:rPr lang="en-US" sz="1600" dirty="0">
                <a:solidFill>
                  <a:schemeClr val="accent5"/>
                </a:solidFill>
              </a:rPr>
              <a:t>10 – 800 packets/s</a:t>
            </a:r>
            <a:endParaRPr lang="en-US" sz="1600" dirty="0"/>
          </a:p>
        </p:txBody>
      </p:sp>
      <p:sp>
        <p:nvSpPr>
          <p:cNvPr id="19" name="setup note"/>
          <p:cNvSpPr txBox="1"/>
          <p:nvPr/>
        </p:nvSpPr>
        <p:spPr>
          <a:xfrm>
            <a:off x="7132320" y="5486400"/>
            <a:ext cx="4480560" cy="548640"/>
          </a:xfrm>
          <a:prstGeom prst="rect">
            <a:avLst/>
          </a:prstGeom>
          <a:noFill/>
          <a:ln/>
        </p:spPr>
        <p:txBody>
          <a:bodyPr wrap="square" lIns="0" tIns="0" rIns="0" bIns="0" rtlCol="0" anchor="t"/>
          <a:lstStyle/>
          <a:p>
            <a:pPr indent="0" marL="0">
              <a:buNone/>
            </a:pPr>
            <a:r>
              <a:rPr lang="en-US" sz="1500" i="1" dirty="0">
                <a:solidFill>
                  <a:schemeClr val="accent5"/>
                </a:solidFill>
              </a:rPr>
              <a:t>One parameter changes at a time; the others keep their defaults.</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What we measured</a:t>
            </a:r>
            <a:endParaRPr lang="en-US" sz="3400" dirty="0"/>
          </a:p>
        </p:txBody>
      </p:sp>
      <p:sp>
        <p:nvSpPr>
          <p:cNvPr id="3" name="metric Packet delivery ratio card"/>
          <p:cNvSpPr/>
          <p:nvPr/>
        </p:nvSpPr>
        <p:spPr>
          <a:xfrm>
            <a:off x="548640" y="1371600"/>
            <a:ext cx="3520440" cy="1737360"/>
          </a:xfrm>
          <a:prstGeom prst="roundRect">
            <a:avLst>
              <a:gd name="adj" fmla="val 6316"/>
            </a:avLst>
          </a:prstGeom>
          <a:solidFill>
            <a:schemeClr val="bg2"/>
          </a:solidFill>
          <a:ln/>
        </p:spPr>
      </p:sp>
      <p:sp>
        <p:nvSpPr>
          <p:cNvPr id="4" name="Packet delivery ratio circle"/>
          <p:cNvSpPr/>
          <p:nvPr/>
        </p:nvSpPr>
        <p:spPr>
          <a:xfrm>
            <a:off x="822960" y="1645920"/>
            <a:ext cx="640080" cy="640080"/>
          </a:xfrm>
          <a:prstGeom prst="ellipse">
            <a:avLst/>
          </a:prstGeom>
          <a:solidFill>
            <a:schemeClr val="accent1"/>
          </a:solidFill>
          <a:ln/>
        </p:spPr>
      </p:sp>
      <p:pic>
        <p:nvPicPr>
          <p:cNvPr id="5" name="Packet delivery ratio icon"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6" name="Packet delivery ratio title"/>
          <p:cNvSpPr txBox="1"/>
          <p:nvPr/>
        </p:nvSpPr>
        <p:spPr>
          <a:xfrm>
            <a:off x="1645920" y="1664208"/>
            <a:ext cx="2286000" cy="594360"/>
          </a:xfrm>
          <a:prstGeom prst="rect">
            <a:avLst/>
          </a:prstGeom>
          <a:noFill/>
          <a:ln/>
        </p:spPr>
        <p:txBody>
          <a:bodyPr wrap="square" lIns="0" tIns="0" rIns="0" bIns="0" rtlCol="0" anchor="ctr"/>
          <a:lstStyle/>
          <a:p>
            <a:pPr indent="0" marL="0">
              <a:buNone/>
            </a:pPr>
            <a:r>
              <a:rPr lang="en-US" sz="1800" b="1" dirty="0">
                <a:solidFill>
                  <a:schemeClr val="tx2"/>
                </a:solidFill>
              </a:rPr>
              <a:t>Packet delivery ratio</a:t>
            </a:r>
            <a:endParaRPr lang="en-US" sz="1800" dirty="0"/>
          </a:p>
        </p:txBody>
      </p:sp>
      <p:sp>
        <p:nvSpPr>
          <p:cNvPr id="7" name="Packet delivery ratio text"/>
          <p:cNvSpPr txBox="1"/>
          <p:nvPr/>
        </p:nvSpPr>
        <p:spPr>
          <a:xfrm>
            <a:off x="822960" y="2377440"/>
            <a:ext cx="3017520" cy="640080"/>
          </a:xfrm>
          <a:prstGeom prst="rect">
            <a:avLst/>
          </a:prstGeom>
          <a:noFill/>
          <a:ln/>
        </p:spPr>
        <p:txBody>
          <a:bodyPr wrap="square" lIns="0" tIns="0" rIns="0" bIns="0" rtlCol="0" anchor="t"/>
          <a:lstStyle/>
          <a:p>
            <a:pPr indent="0" marL="0">
              <a:buNone/>
            </a:pPr>
            <a:r>
              <a:rPr lang="en-US" sz="1500" dirty="0">
                <a:solidFill>
                  <a:schemeClr val="tx1"/>
                </a:solidFill>
              </a:rPr>
              <a:t>Received ÷ sent data packets</a:t>
            </a:r>
            <a:endParaRPr lang="en-US" sz="1500" dirty="0"/>
          </a:p>
        </p:txBody>
      </p:sp>
      <p:sp>
        <p:nvSpPr>
          <p:cNvPr id="8" name="metric Throughput card"/>
          <p:cNvSpPr/>
          <p:nvPr/>
        </p:nvSpPr>
        <p:spPr>
          <a:xfrm>
            <a:off x="4325112" y="1371600"/>
            <a:ext cx="3520440" cy="1737360"/>
          </a:xfrm>
          <a:prstGeom prst="roundRect">
            <a:avLst>
              <a:gd name="adj" fmla="val 6316"/>
            </a:avLst>
          </a:prstGeom>
          <a:solidFill>
            <a:schemeClr val="bg2"/>
          </a:solidFill>
          <a:ln/>
        </p:spPr>
      </p:sp>
      <p:sp>
        <p:nvSpPr>
          <p:cNvPr id="9" name="Throughput circle"/>
          <p:cNvSpPr/>
          <p:nvPr/>
        </p:nvSpPr>
        <p:spPr>
          <a:xfrm>
            <a:off x="4599432" y="1645920"/>
            <a:ext cx="640080" cy="640080"/>
          </a:xfrm>
          <a:prstGeom prst="ellipse">
            <a:avLst/>
          </a:prstGeom>
          <a:solidFill>
            <a:schemeClr val="accent1"/>
          </a:solidFill>
          <a:ln/>
        </p:spPr>
      </p:sp>
      <p:pic>
        <p:nvPicPr>
          <p:cNvPr id="10" name="Throughput icon" descr="preencoded.png">    </p:cNvPr>
          <p:cNvPicPr>
            <a:picLocks noChangeAspect="1"/>
          </p:cNvPicPr>
          <p:nvPr/>
        </p:nvPicPr>
        <p:blipFill>
          <a:blip r:embed="rId2"/>
          <a:stretch>
            <a:fillRect/>
          </a:stretch>
        </p:blipFill>
        <p:spPr>
          <a:xfrm>
            <a:off x="4759452" y="1805940"/>
            <a:ext cx="320040" cy="320040"/>
          </a:xfrm>
          <a:prstGeom prst="rect">
            <a:avLst/>
          </a:prstGeom>
        </p:spPr>
      </p:pic>
      <p:sp>
        <p:nvSpPr>
          <p:cNvPr id="11" name="Throughput title"/>
          <p:cNvSpPr txBox="1"/>
          <p:nvPr/>
        </p:nvSpPr>
        <p:spPr>
          <a:xfrm>
            <a:off x="5422392" y="1664208"/>
            <a:ext cx="2286000" cy="594360"/>
          </a:xfrm>
          <a:prstGeom prst="rect">
            <a:avLst/>
          </a:prstGeom>
          <a:noFill/>
          <a:ln/>
        </p:spPr>
        <p:txBody>
          <a:bodyPr wrap="square" lIns="0" tIns="0" rIns="0" bIns="0" rtlCol="0" anchor="ctr"/>
          <a:lstStyle/>
          <a:p>
            <a:pPr indent="0" marL="0">
              <a:buNone/>
            </a:pPr>
            <a:r>
              <a:rPr lang="en-US" sz="1800" b="1" dirty="0">
                <a:solidFill>
                  <a:schemeClr val="tx2"/>
                </a:solidFill>
              </a:rPr>
              <a:t>Throughput</a:t>
            </a:r>
            <a:endParaRPr lang="en-US" sz="1800" dirty="0"/>
          </a:p>
        </p:txBody>
      </p:sp>
      <p:sp>
        <p:nvSpPr>
          <p:cNvPr id="12" name="Throughput text"/>
          <p:cNvSpPr txBox="1"/>
          <p:nvPr/>
        </p:nvSpPr>
        <p:spPr>
          <a:xfrm>
            <a:off x="4599432" y="2377440"/>
            <a:ext cx="3017520" cy="640080"/>
          </a:xfrm>
          <a:prstGeom prst="rect">
            <a:avLst/>
          </a:prstGeom>
          <a:noFill/>
          <a:ln/>
        </p:spPr>
        <p:txBody>
          <a:bodyPr wrap="square" lIns="0" tIns="0" rIns="0" bIns="0" rtlCol="0" anchor="t"/>
          <a:lstStyle/>
          <a:p>
            <a:pPr indent="0" marL="0">
              <a:buNone/>
            </a:pPr>
            <a:r>
              <a:rPr lang="en-US" sz="1500" dirty="0">
                <a:solidFill>
                  <a:schemeClr val="tx1"/>
                </a:solidFill>
              </a:rPr>
              <a:t>Delivered bits per second at the IP layer</a:t>
            </a:r>
            <a:endParaRPr lang="en-US" sz="1500" dirty="0"/>
          </a:p>
        </p:txBody>
      </p:sp>
      <p:sp>
        <p:nvSpPr>
          <p:cNvPr id="13" name="metric End-to-end delay card"/>
          <p:cNvSpPr/>
          <p:nvPr/>
        </p:nvSpPr>
        <p:spPr>
          <a:xfrm>
            <a:off x="8101584" y="1371600"/>
            <a:ext cx="3520440" cy="1737360"/>
          </a:xfrm>
          <a:prstGeom prst="roundRect">
            <a:avLst>
              <a:gd name="adj" fmla="val 6316"/>
            </a:avLst>
          </a:prstGeom>
          <a:solidFill>
            <a:schemeClr val="bg2"/>
          </a:solidFill>
          <a:ln/>
        </p:spPr>
      </p:sp>
      <p:sp>
        <p:nvSpPr>
          <p:cNvPr id="14" name="End-to-end delay circle"/>
          <p:cNvSpPr/>
          <p:nvPr/>
        </p:nvSpPr>
        <p:spPr>
          <a:xfrm>
            <a:off x="8375904" y="1645920"/>
            <a:ext cx="640080" cy="640080"/>
          </a:xfrm>
          <a:prstGeom prst="ellipse">
            <a:avLst/>
          </a:prstGeom>
          <a:solidFill>
            <a:schemeClr val="accent1"/>
          </a:solidFill>
          <a:ln/>
        </p:spPr>
      </p:sp>
      <p:pic>
        <p:nvPicPr>
          <p:cNvPr id="15" name="End-to-end delay icon" descr="preencoded.png">    </p:cNvPr>
          <p:cNvPicPr>
            <a:picLocks noChangeAspect="1"/>
          </p:cNvPicPr>
          <p:nvPr/>
        </p:nvPicPr>
        <p:blipFill>
          <a:blip r:embed="rId3"/>
          <a:stretch>
            <a:fillRect/>
          </a:stretch>
        </p:blipFill>
        <p:spPr>
          <a:xfrm>
            <a:off x="8535924" y="1805940"/>
            <a:ext cx="320040" cy="320040"/>
          </a:xfrm>
          <a:prstGeom prst="rect">
            <a:avLst/>
          </a:prstGeom>
        </p:spPr>
      </p:pic>
      <p:sp>
        <p:nvSpPr>
          <p:cNvPr id="16" name="End-to-end delay title"/>
          <p:cNvSpPr txBox="1"/>
          <p:nvPr/>
        </p:nvSpPr>
        <p:spPr>
          <a:xfrm>
            <a:off x="9198864" y="1664208"/>
            <a:ext cx="2286000" cy="594360"/>
          </a:xfrm>
          <a:prstGeom prst="rect">
            <a:avLst/>
          </a:prstGeom>
          <a:noFill/>
          <a:ln/>
        </p:spPr>
        <p:txBody>
          <a:bodyPr wrap="square" lIns="0" tIns="0" rIns="0" bIns="0" rtlCol="0" anchor="ctr"/>
          <a:lstStyle/>
          <a:p>
            <a:pPr indent="0" marL="0">
              <a:buNone/>
            </a:pPr>
            <a:r>
              <a:rPr lang="en-US" sz="1800" b="1" dirty="0">
                <a:solidFill>
                  <a:schemeClr val="tx2"/>
                </a:solidFill>
              </a:rPr>
              <a:t>End-to-end delay</a:t>
            </a:r>
            <a:endParaRPr lang="en-US" sz="1800" dirty="0"/>
          </a:p>
        </p:txBody>
      </p:sp>
      <p:sp>
        <p:nvSpPr>
          <p:cNvPr id="17" name="End-to-end delay text"/>
          <p:cNvSpPr txBox="1"/>
          <p:nvPr/>
        </p:nvSpPr>
        <p:spPr>
          <a:xfrm>
            <a:off x="8375904" y="2377440"/>
            <a:ext cx="3017520" cy="640080"/>
          </a:xfrm>
          <a:prstGeom prst="rect">
            <a:avLst/>
          </a:prstGeom>
          <a:noFill/>
          <a:ln/>
        </p:spPr>
        <p:txBody>
          <a:bodyPr wrap="square" lIns="0" tIns="0" rIns="0" bIns="0" rtlCol="0" anchor="t"/>
          <a:lstStyle/>
          <a:p>
            <a:pPr indent="0" marL="0">
              <a:buNone/>
            </a:pPr>
            <a:r>
              <a:rPr lang="en-US" sz="1500" dirty="0">
                <a:solidFill>
                  <a:schemeClr val="tx1"/>
                </a:solidFill>
              </a:rPr>
              <a:t>Mean transit time of delivered packets</a:t>
            </a:r>
            <a:endParaRPr lang="en-US" sz="1500" dirty="0"/>
          </a:p>
        </p:txBody>
      </p:sp>
      <p:sp>
        <p:nvSpPr>
          <p:cNvPr id="18" name="metric Jitter card"/>
          <p:cNvSpPr/>
          <p:nvPr/>
        </p:nvSpPr>
        <p:spPr>
          <a:xfrm>
            <a:off x="548640" y="3337560"/>
            <a:ext cx="3520440" cy="1737360"/>
          </a:xfrm>
          <a:prstGeom prst="roundRect">
            <a:avLst>
              <a:gd name="adj" fmla="val 6316"/>
            </a:avLst>
          </a:prstGeom>
          <a:solidFill>
            <a:schemeClr val="bg2"/>
          </a:solidFill>
          <a:ln/>
        </p:spPr>
      </p:sp>
      <p:sp>
        <p:nvSpPr>
          <p:cNvPr id="19" name="Jitter circle"/>
          <p:cNvSpPr/>
          <p:nvPr/>
        </p:nvSpPr>
        <p:spPr>
          <a:xfrm>
            <a:off x="822960" y="3611880"/>
            <a:ext cx="640080" cy="640080"/>
          </a:xfrm>
          <a:prstGeom prst="ellipse">
            <a:avLst/>
          </a:prstGeom>
          <a:solidFill>
            <a:schemeClr val="accent1"/>
          </a:solidFill>
          <a:ln/>
        </p:spPr>
      </p:sp>
      <p:pic>
        <p:nvPicPr>
          <p:cNvPr id="20" name="Jitter icon" descr="preencoded.png">    </p:cNvPr>
          <p:cNvPicPr>
            <a:picLocks noChangeAspect="1"/>
          </p:cNvPicPr>
          <p:nvPr/>
        </p:nvPicPr>
        <p:blipFill>
          <a:blip r:embed="rId4"/>
          <a:stretch>
            <a:fillRect/>
          </a:stretch>
        </p:blipFill>
        <p:spPr>
          <a:xfrm>
            <a:off x="982980" y="3771900"/>
            <a:ext cx="320040" cy="320040"/>
          </a:xfrm>
          <a:prstGeom prst="rect">
            <a:avLst/>
          </a:prstGeom>
        </p:spPr>
      </p:pic>
      <p:sp>
        <p:nvSpPr>
          <p:cNvPr id="21" name="Jitter title"/>
          <p:cNvSpPr txBox="1"/>
          <p:nvPr/>
        </p:nvSpPr>
        <p:spPr>
          <a:xfrm>
            <a:off x="1645920" y="3630168"/>
            <a:ext cx="2286000" cy="594360"/>
          </a:xfrm>
          <a:prstGeom prst="rect">
            <a:avLst/>
          </a:prstGeom>
          <a:noFill/>
          <a:ln/>
        </p:spPr>
        <p:txBody>
          <a:bodyPr wrap="square" lIns="0" tIns="0" rIns="0" bIns="0" rtlCol="0" anchor="ctr"/>
          <a:lstStyle/>
          <a:p>
            <a:pPr indent="0" marL="0">
              <a:buNone/>
            </a:pPr>
            <a:r>
              <a:rPr lang="en-US" sz="1800" b="1" dirty="0">
                <a:solidFill>
                  <a:schemeClr val="tx2"/>
                </a:solidFill>
              </a:rPr>
              <a:t>Jitter</a:t>
            </a:r>
            <a:endParaRPr lang="en-US" sz="1800" dirty="0"/>
          </a:p>
        </p:txBody>
      </p:sp>
      <p:sp>
        <p:nvSpPr>
          <p:cNvPr id="22" name="Jitter text"/>
          <p:cNvSpPr txBox="1"/>
          <p:nvPr/>
        </p:nvSpPr>
        <p:spPr>
          <a:xfrm>
            <a:off x="822960" y="4343400"/>
            <a:ext cx="3017520" cy="640080"/>
          </a:xfrm>
          <a:prstGeom prst="rect">
            <a:avLst/>
          </a:prstGeom>
          <a:noFill/>
          <a:ln/>
        </p:spPr>
        <p:txBody>
          <a:bodyPr wrap="square" lIns="0" tIns="0" rIns="0" bIns="0" rtlCol="0" anchor="t"/>
          <a:lstStyle/>
          <a:p>
            <a:pPr indent="0" marL="0">
              <a:buNone/>
            </a:pPr>
            <a:r>
              <a:rPr lang="en-US" sz="1500" dirty="0">
                <a:solidFill>
                  <a:schemeClr val="tx1"/>
                </a:solidFill>
              </a:rPr>
              <a:t>Mean change in delay between consecutive packets</a:t>
            </a:r>
            <a:endParaRPr lang="en-US" sz="1500" dirty="0"/>
          </a:p>
        </p:txBody>
      </p:sp>
      <p:sp>
        <p:nvSpPr>
          <p:cNvPr id="23" name="metric Routing overhead card"/>
          <p:cNvSpPr/>
          <p:nvPr/>
        </p:nvSpPr>
        <p:spPr>
          <a:xfrm>
            <a:off x="4325112" y="3337560"/>
            <a:ext cx="3520440" cy="1737360"/>
          </a:xfrm>
          <a:prstGeom prst="roundRect">
            <a:avLst>
              <a:gd name="adj" fmla="val 6316"/>
            </a:avLst>
          </a:prstGeom>
          <a:solidFill>
            <a:schemeClr val="bg2"/>
          </a:solidFill>
          <a:ln/>
        </p:spPr>
      </p:sp>
      <p:sp>
        <p:nvSpPr>
          <p:cNvPr id="24" name="Routing overhead circle"/>
          <p:cNvSpPr/>
          <p:nvPr/>
        </p:nvSpPr>
        <p:spPr>
          <a:xfrm>
            <a:off x="4599432" y="3611880"/>
            <a:ext cx="640080" cy="640080"/>
          </a:xfrm>
          <a:prstGeom prst="ellipse">
            <a:avLst/>
          </a:prstGeom>
          <a:solidFill>
            <a:schemeClr val="accent1"/>
          </a:solidFill>
          <a:ln/>
        </p:spPr>
      </p:sp>
      <p:pic>
        <p:nvPicPr>
          <p:cNvPr id="25" name="Routing overhead icon" descr="preencoded.png">    </p:cNvPr>
          <p:cNvPicPr>
            <a:picLocks noChangeAspect="1"/>
          </p:cNvPicPr>
          <p:nvPr/>
        </p:nvPicPr>
        <p:blipFill>
          <a:blip r:embed="rId5"/>
          <a:stretch>
            <a:fillRect/>
          </a:stretch>
        </p:blipFill>
        <p:spPr>
          <a:xfrm>
            <a:off x="4759452" y="3771900"/>
            <a:ext cx="320040" cy="320040"/>
          </a:xfrm>
          <a:prstGeom prst="rect">
            <a:avLst/>
          </a:prstGeom>
        </p:spPr>
      </p:pic>
      <p:sp>
        <p:nvSpPr>
          <p:cNvPr id="26" name="Routing overhead title"/>
          <p:cNvSpPr txBox="1"/>
          <p:nvPr/>
        </p:nvSpPr>
        <p:spPr>
          <a:xfrm>
            <a:off x="5422392" y="3630168"/>
            <a:ext cx="2286000" cy="594360"/>
          </a:xfrm>
          <a:prstGeom prst="rect">
            <a:avLst/>
          </a:prstGeom>
          <a:noFill/>
          <a:ln/>
        </p:spPr>
        <p:txBody>
          <a:bodyPr wrap="square" lIns="0" tIns="0" rIns="0" bIns="0" rtlCol="0" anchor="ctr"/>
          <a:lstStyle/>
          <a:p>
            <a:pPr indent="0" marL="0">
              <a:buNone/>
            </a:pPr>
            <a:r>
              <a:rPr lang="en-US" sz="1800" b="1" dirty="0">
                <a:solidFill>
                  <a:schemeClr val="tx2"/>
                </a:solidFill>
              </a:rPr>
              <a:t>Routing overhead</a:t>
            </a:r>
            <a:endParaRPr lang="en-US" sz="1800" dirty="0"/>
          </a:p>
        </p:txBody>
      </p:sp>
      <p:sp>
        <p:nvSpPr>
          <p:cNvPr id="27" name="Routing overhead text"/>
          <p:cNvSpPr txBox="1"/>
          <p:nvPr/>
        </p:nvSpPr>
        <p:spPr>
          <a:xfrm>
            <a:off x="4599432" y="4343400"/>
            <a:ext cx="3017520" cy="640080"/>
          </a:xfrm>
          <a:prstGeom prst="rect">
            <a:avLst/>
          </a:prstGeom>
          <a:noFill/>
          <a:ln/>
        </p:spPr>
        <p:txBody>
          <a:bodyPr wrap="square" lIns="0" tIns="0" rIns="0" bIns="0" rtlCol="0" anchor="t"/>
          <a:lstStyle/>
          <a:p>
            <a:pPr indent="0" marL="0">
              <a:buNone/>
            </a:pPr>
            <a:r>
              <a:rPr lang="en-US" sz="1500" dirty="0">
                <a:solidFill>
                  <a:schemeClr val="tx1"/>
                </a:solidFill>
              </a:rPr>
              <a:t>Control packets sent by all nodes; per delivered packet = NRL</a:t>
            </a:r>
            <a:endParaRPr lang="en-US" sz="1500" dirty="0"/>
          </a:p>
        </p:txBody>
      </p:sp>
      <p:sp>
        <p:nvSpPr>
          <p:cNvPr id="28" name="metric Source drops card"/>
          <p:cNvSpPr/>
          <p:nvPr/>
        </p:nvSpPr>
        <p:spPr>
          <a:xfrm>
            <a:off x="8101584" y="3337560"/>
            <a:ext cx="3520440" cy="1737360"/>
          </a:xfrm>
          <a:prstGeom prst="roundRect">
            <a:avLst>
              <a:gd name="adj" fmla="val 6316"/>
            </a:avLst>
          </a:prstGeom>
          <a:solidFill>
            <a:schemeClr val="bg2"/>
          </a:solidFill>
          <a:ln/>
        </p:spPr>
      </p:sp>
      <p:sp>
        <p:nvSpPr>
          <p:cNvPr id="29" name="Source drops circle"/>
          <p:cNvSpPr/>
          <p:nvPr/>
        </p:nvSpPr>
        <p:spPr>
          <a:xfrm>
            <a:off x="8375904" y="3611880"/>
            <a:ext cx="640080" cy="640080"/>
          </a:xfrm>
          <a:prstGeom prst="ellipse">
            <a:avLst/>
          </a:prstGeom>
          <a:solidFill>
            <a:schemeClr val="accent1"/>
          </a:solidFill>
          <a:ln/>
        </p:spPr>
      </p:sp>
      <p:pic>
        <p:nvPicPr>
          <p:cNvPr id="30" name="Source drops icon" descr="preencoded.png">    </p:cNvPr>
          <p:cNvPicPr>
            <a:picLocks noChangeAspect="1"/>
          </p:cNvPicPr>
          <p:nvPr/>
        </p:nvPicPr>
        <p:blipFill>
          <a:blip r:embed="rId6"/>
          <a:stretch>
            <a:fillRect/>
          </a:stretch>
        </p:blipFill>
        <p:spPr>
          <a:xfrm>
            <a:off x="8535924" y="3771900"/>
            <a:ext cx="320040" cy="320040"/>
          </a:xfrm>
          <a:prstGeom prst="rect">
            <a:avLst/>
          </a:prstGeom>
        </p:spPr>
      </p:pic>
      <p:sp>
        <p:nvSpPr>
          <p:cNvPr id="31" name="Source drops title"/>
          <p:cNvSpPr txBox="1"/>
          <p:nvPr/>
        </p:nvSpPr>
        <p:spPr>
          <a:xfrm>
            <a:off x="9198864" y="3630168"/>
            <a:ext cx="2286000" cy="594360"/>
          </a:xfrm>
          <a:prstGeom prst="rect">
            <a:avLst/>
          </a:prstGeom>
          <a:noFill/>
          <a:ln/>
        </p:spPr>
        <p:txBody>
          <a:bodyPr wrap="square" lIns="0" tIns="0" rIns="0" bIns="0" rtlCol="0" anchor="ctr"/>
          <a:lstStyle/>
          <a:p>
            <a:pPr indent="0" marL="0">
              <a:buNone/>
            </a:pPr>
            <a:r>
              <a:rPr lang="en-US" sz="1800" b="1" dirty="0">
                <a:solidFill>
                  <a:schemeClr val="tx2"/>
                </a:solidFill>
              </a:rPr>
              <a:t>Source drops</a:t>
            </a:r>
            <a:endParaRPr lang="en-US" sz="1800" dirty="0"/>
          </a:p>
        </p:txBody>
      </p:sp>
      <p:sp>
        <p:nvSpPr>
          <p:cNvPr id="32" name="Source drops text"/>
          <p:cNvSpPr txBox="1"/>
          <p:nvPr/>
        </p:nvSpPr>
        <p:spPr>
          <a:xfrm>
            <a:off x="8375904" y="4343400"/>
            <a:ext cx="3017520" cy="640080"/>
          </a:xfrm>
          <a:prstGeom prst="rect">
            <a:avLst/>
          </a:prstGeom>
          <a:noFill/>
          <a:ln/>
        </p:spPr>
        <p:txBody>
          <a:bodyPr wrap="square" lIns="0" tIns="0" rIns="0" bIns="0" rtlCol="0" anchor="t"/>
          <a:lstStyle/>
          <a:p>
            <a:pPr indent="0" marL="0">
              <a:buNone/>
            </a:pPr>
            <a:r>
              <a:rPr lang="en-US" sz="1500" dirty="0">
                <a:solidFill>
                  <a:schemeClr val="tx1"/>
                </a:solidFill>
              </a:rPr>
              <a:t>Packets dropped at the source for lack of a route</a:t>
            </a:r>
            <a:endParaRPr lang="en-US" sz="1500" dirty="0"/>
          </a:p>
        </p:txBody>
      </p:sp>
      <p:sp>
        <p:nvSpPr>
          <p:cNvPr id="33" name="measurement note"/>
          <p:cNvSpPr txBox="1"/>
          <p:nvPr/>
        </p:nvSpPr>
        <p:spPr>
          <a:xfrm>
            <a:off x="548640" y="5394960"/>
            <a:ext cx="11064240" cy="685800"/>
          </a:xfrm>
          <a:prstGeom prst="rect">
            <a:avLst/>
          </a:prstGeom>
          <a:noFill/>
          <a:ln/>
        </p:spPr>
        <p:txBody>
          <a:bodyPr wrap="square" lIns="0" tIns="0" rIns="0" bIns="0" rtlCol="0" anchor="t"/>
          <a:lstStyle/>
          <a:p>
            <a:pPr indent="0" marL="0">
              <a:buNone/>
            </a:pPr>
            <a:r>
              <a:rPr lang="en-US" sz="1400" i="1" dirty="0">
                <a:solidFill>
                  <a:schemeClr val="accent5"/>
                </a:solidFill>
              </a:rPr>
              <a:t>Overhead is counted with the Ipv4L3Protocol Tx trace because FlowMonitor ignores broadcast packets; sent data packets are counted at the client because OLSR drops packets before FlowMonitor sees them.</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More nodes help every protocol; AODV stays ahead</a:t>
            </a:r>
            <a:endParaRPr lang="en-US" sz="3400" dirty="0"/>
          </a:p>
        </p:txBody>
      </p:sp>
      <p:graphicFrame>
        <p:nvGraphicFramePr>
          <p:cNvPr id="3" name="PDR vs nodes chart" descr=""/>
          <p:cNvGraphicFramePr/>
          <p:nvPr/>
        </p:nvGraphicFramePr>
        <p:xfrm>
          <a:off x="548640" y="1325880"/>
          <a:ext cx="7223760" cy="4800600"/>
        </p:xfrm>
        <a:graphic xmlns:a="http://schemas.openxmlformats.org/drawingml/2006/main">
          <a:graphicData uri="http://schemas.openxmlformats.org/drawingml/2006/chart">
            <c:chart xmlns:c="http://schemas.openxmlformats.org/drawingml/2006/chart" r:id="rId1"/>
          </a:graphicData>
        </a:graphic>
      </p:graphicFrame>
      <p:sp>
        <p:nvSpPr>
          <p:cNvPr id="4" name="AODV density label"/>
          <p:cNvSpPr txBox="1"/>
          <p:nvPr/>
        </p:nvSpPr>
        <p:spPr>
          <a:xfrm>
            <a:off x="8229600" y="1463040"/>
            <a:ext cx="3383280" cy="365760"/>
          </a:xfrm>
          <a:prstGeom prst="rect">
            <a:avLst/>
          </a:prstGeom>
          <a:noFill/>
          <a:ln/>
        </p:spPr>
        <p:txBody>
          <a:bodyPr wrap="square" lIns="0" tIns="0" rIns="0" bIns="0" rtlCol="0" anchor="t"/>
          <a:lstStyle/>
          <a:p>
            <a:pPr indent="0" marL="0">
              <a:buNone/>
            </a:pPr>
            <a:r>
              <a:rPr lang="en-US" sz="1600" b="1" dirty="0">
                <a:solidFill>
                  <a:schemeClr val="accent1"/>
                </a:solidFill>
              </a:rPr>
              <a:t>AODV</a:t>
            </a:r>
            <a:endParaRPr lang="en-US" sz="1600" dirty="0"/>
          </a:p>
        </p:txBody>
      </p:sp>
      <p:sp>
        <p:nvSpPr>
          <p:cNvPr id="5" name="AODV density value"/>
          <p:cNvSpPr txBox="1"/>
          <p:nvPr/>
        </p:nvSpPr>
        <p:spPr>
          <a:xfrm>
            <a:off x="8229600" y="1828800"/>
            <a:ext cx="3383280" cy="640080"/>
          </a:xfrm>
          <a:prstGeom prst="rect">
            <a:avLst/>
          </a:prstGeom>
          <a:noFill/>
          <a:ln/>
        </p:spPr>
        <p:txBody>
          <a:bodyPr wrap="square" lIns="0" tIns="0" rIns="0" bIns="0" rtlCol="0" anchor="t"/>
          <a:lstStyle/>
          <a:p>
            <a:pPr indent="0" marL="0">
              <a:buNone/>
            </a:pPr>
            <a:r>
              <a:rPr lang="en-US" sz="3000" b="1" dirty="0">
                <a:solidFill>
                  <a:schemeClr val="tx2"/>
                </a:solidFill>
                <a:latin typeface="Calibri" pitchFamily="34" charset="0"/>
                <a:ea typeface="Calibri" pitchFamily="34" charset="-122"/>
                <a:cs typeface="Calibri" pitchFamily="34" charset="-120"/>
              </a:rPr>
              <a:t>74% → 97%</a:t>
            </a:r>
            <a:endParaRPr lang="en-US" sz="3000" dirty="0"/>
          </a:p>
        </p:txBody>
      </p:sp>
      <p:sp>
        <p:nvSpPr>
          <p:cNvPr id="6" name="OLSR density label"/>
          <p:cNvSpPr txBox="1"/>
          <p:nvPr/>
        </p:nvSpPr>
        <p:spPr>
          <a:xfrm>
            <a:off x="8229600" y="2788920"/>
            <a:ext cx="3383280" cy="365760"/>
          </a:xfrm>
          <a:prstGeom prst="rect">
            <a:avLst/>
          </a:prstGeom>
          <a:noFill/>
          <a:ln/>
        </p:spPr>
        <p:txBody>
          <a:bodyPr wrap="square" lIns="0" tIns="0" rIns="0" bIns="0" rtlCol="0" anchor="t"/>
          <a:lstStyle/>
          <a:p>
            <a:pPr indent="0" marL="0">
              <a:buNone/>
            </a:pPr>
            <a:r>
              <a:rPr lang="en-US" sz="1600" b="1" dirty="0">
                <a:solidFill>
                  <a:schemeClr val="accent2"/>
                </a:solidFill>
              </a:rPr>
              <a:t>OLSR</a:t>
            </a:r>
            <a:endParaRPr lang="en-US" sz="1600" dirty="0"/>
          </a:p>
        </p:txBody>
      </p:sp>
      <p:sp>
        <p:nvSpPr>
          <p:cNvPr id="7" name="OLSR density value"/>
          <p:cNvSpPr txBox="1"/>
          <p:nvPr/>
        </p:nvSpPr>
        <p:spPr>
          <a:xfrm>
            <a:off x="8229600" y="3154680"/>
            <a:ext cx="3383280" cy="640080"/>
          </a:xfrm>
          <a:prstGeom prst="rect">
            <a:avLst/>
          </a:prstGeom>
          <a:noFill/>
          <a:ln/>
        </p:spPr>
        <p:txBody>
          <a:bodyPr wrap="square" lIns="0" tIns="0" rIns="0" bIns="0" rtlCol="0" anchor="t"/>
          <a:lstStyle/>
          <a:p>
            <a:pPr indent="0" marL="0">
              <a:buNone/>
            </a:pPr>
            <a:r>
              <a:rPr lang="en-US" sz="3000" b="1" dirty="0">
                <a:solidFill>
                  <a:schemeClr val="tx2"/>
                </a:solidFill>
                <a:latin typeface="Calibri" pitchFamily="34" charset="0"/>
                <a:ea typeface="Calibri" pitchFamily="34" charset="-122"/>
                <a:cs typeface="Calibri" pitchFamily="34" charset="-120"/>
              </a:rPr>
              <a:t>70% → 88%</a:t>
            </a:r>
            <a:endParaRPr lang="en-US" sz="3000" dirty="0"/>
          </a:p>
        </p:txBody>
      </p:sp>
      <p:sp>
        <p:nvSpPr>
          <p:cNvPr id="8" name="DSDV density label"/>
          <p:cNvSpPr txBox="1"/>
          <p:nvPr/>
        </p:nvSpPr>
        <p:spPr>
          <a:xfrm>
            <a:off x="8229600" y="4114800"/>
            <a:ext cx="3383280" cy="365760"/>
          </a:xfrm>
          <a:prstGeom prst="rect">
            <a:avLst/>
          </a:prstGeom>
          <a:noFill/>
          <a:ln/>
        </p:spPr>
        <p:txBody>
          <a:bodyPr wrap="square" lIns="0" tIns="0" rIns="0" bIns="0" rtlCol="0" anchor="t"/>
          <a:lstStyle/>
          <a:p>
            <a:pPr indent="0" marL="0">
              <a:buNone/>
            </a:pPr>
            <a:r>
              <a:rPr lang="en-US" sz="1600" b="1" dirty="0">
                <a:solidFill>
                  <a:schemeClr val="accent3"/>
                </a:solidFill>
              </a:rPr>
              <a:t>DSDV</a:t>
            </a:r>
            <a:endParaRPr lang="en-US" sz="1600" dirty="0"/>
          </a:p>
        </p:txBody>
      </p:sp>
      <p:sp>
        <p:nvSpPr>
          <p:cNvPr id="9" name="DSDV density value"/>
          <p:cNvSpPr txBox="1"/>
          <p:nvPr/>
        </p:nvSpPr>
        <p:spPr>
          <a:xfrm>
            <a:off x="8229600" y="4480560"/>
            <a:ext cx="3383280" cy="640080"/>
          </a:xfrm>
          <a:prstGeom prst="rect">
            <a:avLst/>
          </a:prstGeom>
          <a:noFill/>
          <a:ln/>
        </p:spPr>
        <p:txBody>
          <a:bodyPr wrap="square" lIns="0" tIns="0" rIns="0" bIns="0" rtlCol="0" anchor="t"/>
          <a:lstStyle/>
          <a:p>
            <a:pPr indent="0" marL="0">
              <a:buNone/>
            </a:pPr>
            <a:r>
              <a:rPr lang="en-US" sz="3000" b="1" dirty="0">
                <a:solidFill>
                  <a:schemeClr val="tx2"/>
                </a:solidFill>
                <a:latin typeface="Calibri" pitchFamily="34" charset="0"/>
                <a:ea typeface="Calibri" pitchFamily="34" charset="-122"/>
                <a:cs typeface="Calibri" pitchFamily="34" charset="-120"/>
              </a:rPr>
              <a:t>59% → 85%</a:t>
            </a:r>
            <a:endParaRPr lang="en-US" sz="3000" dirty="0"/>
          </a:p>
        </p:txBody>
      </p:sp>
      <p:sp>
        <p:nvSpPr>
          <p:cNvPr id="10" name="density note"/>
          <p:cNvSpPr txBox="1"/>
          <p:nvPr/>
        </p:nvSpPr>
        <p:spPr>
          <a:xfrm>
            <a:off x="8229600" y="5486400"/>
            <a:ext cx="3383280" cy="640080"/>
          </a:xfrm>
          <a:prstGeom prst="rect">
            <a:avLst/>
          </a:prstGeom>
          <a:noFill/>
          <a:ln/>
        </p:spPr>
        <p:txBody>
          <a:bodyPr wrap="square" lIns="0" tIns="0" rIns="0" bIns="0" rtlCol="0" anchor="t"/>
          <a:lstStyle/>
          <a:p>
            <a:pPr indent="0" marL="0">
              <a:buNone/>
            </a:pPr>
            <a:r>
              <a:rPr lang="en-US" sz="1500" dirty="0">
                <a:solidFill>
                  <a:schemeClr val="accent5"/>
                </a:solidFill>
              </a:rPr>
              <a:t>Denser networks rarely split, so a path almost always exists.</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Under mobility, AODV holds its delivery</a:t>
            </a:r>
            <a:endParaRPr lang="en-US" sz="3400" dirty="0"/>
          </a:p>
        </p:txBody>
      </p:sp>
      <p:graphicFrame>
        <p:nvGraphicFramePr>
          <p:cNvPr id="3" name="PDR vs speed chart" descr=""/>
          <p:cNvGraphicFramePr/>
          <p:nvPr/>
        </p:nvGraphicFramePr>
        <p:xfrm>
          <a:off x="548640" y="1325880"/>
          <a:ext cx="7223760" cy="4800600"/>
        </p:xfrm>
        <a:graphic xmlns:a="http://schemas.openxmlformats.org/drawingml/2006/main">
          <a:graphicData uri="http://schemas.openxmlformats.org/drawingml/2006/chart">
            <c:chart xmlns:c="http://schemas.openxmlformats.org/drawingml/2006/chart" r:id="rId1"/>
          </a:graphicData>
        </a:graphic>
      </p:graphicFrame>
      <p:sp>
        <p:nvSpPr>
          <p:cNvPr id="4" name="speed heading"/>
          <p:cNvSpPr txBox="1"/>
          <p:nvPr/>
        </p:nvSpPr>
        <p:spPr>
          <a:xfrm>
            <a:off x="8229600" y="1417320"/>
            <a:ext cx="3383280" cy="365760"/>
          </a:xfrm>
          <a:prstGeom prst="rect">
            <a:avLst/>
          </a:prstGeom>
          <a:noFill/>
          <a:ln/>
        </p:spPr>
        <p:txBody>
          <a:bodyPr wrap="square" lIns="0" tIns="0" rIns="0" bIns="0" rtlCol="0" anchor="t"/>
          <a:lstStyle/>
          <a:p>
            <a:pPr indent="0" marL="0">
              <a:buNone/>
            </a:pPr>
            <a:r>
              <a:rPr lang="en-US" sz="1800" b="1" dirty="0">
                <a:solidFill>
                  <a:schemeClr val="tx2"/>
                </a:solidFill>
              </a:rPr>
              <a:t>At 15 m/s</a:t>
            </a:r>
            <a:endParaRPr lang="en-US" sz="1800" dirty="0"/>
          </a:p>
        </p:txBody>
      </p:sp>
      <p:sp>
        <p:nvSpPr>
          <p:cNvPr id="5" name="AODV speed value"/>
          <p:cNvSpPr txBox="1"/>
          <p:nvPr/>
        </p:nvSpPr>
        <p:spPr>
          <a:xfrm>
            <a:off x="8229600" y="1828800"/>
            <a:ext cx="338328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75%</a:t>
            </a:r>
            <a:endParaRPr lang="en-US" sz="5400" dirty="0"/>
          </a:p>
        </p:txBody>
      </p:sp>
      <p:sp>
        <p:nvSpPr>
          <p:cNvPr id="6" name="AODV speed label"/>
          <p:cNvSpPr txBox="1"/>
          <p:nvPr/>
        </p:nvSpPr>
        <p:spPr>
          <a:xfrm>
            <a:off x="8229600" y="2697480"/>
            <a:ext cx="3383280" cy="548640"/>
          </a:xfrm>
          <a:prstGeom prst="rect">
            <a:avLst/>
          </a:prstGeom>
          <a:noFill/>
          <a:ln/>
        </p:spPr>
        <p:txBody>
          <a:bodyPr wrap="square" lIns="0" tIns="0" rIns="0" bIns="0" rtlCol="0" anchor="t"/>
          <a:lstStyle/>
          <a:p>
            <a:pPr indent="0" marL="0">
              <a:buNone/>
            </a:pPr>
            <a:r>
              <a:rPr lang="en-US" sz="1400" dirty="0">
                <a:solidFill>
                  <a:schemeClr val="accent5"/>
                </a:solidFill>
              </a:rPr>
              <a:t>AODV delivery</a:t>
            </a:r>
            <a:endParaRPr lang="en-US" sz="1400" dirty="0"/>
          </a:p>
        </p:txBody>
      </p:sp>
      <p:sp>
        <p:nvSpPr>
          <p:cNvPr id="7" name="OLSR speed value"/>
          <p:cNvSpPr txBox="1"/>
          <p:nvPr/>
        </p:nvSpPr>
        <p:spPr>
          <a:xfrm>
            <a:off x="8229600" y="3337560"/>
            <a:ext cx="1645920" cy="86868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50%</a:t>
            </a:r>
            <a:endParaRPr lang="en-US" sz="4800" dirty="0"/>
          </a:p>
        </p:txBody>
      </p:sp>
      <p:sp>
        <p:nvSpPr>
          <p:cNvPr id="8" name="OLSR speed label"/>
          <p:cNvSpPr txBox="1"/>
          <p:nvPr/>
        </p:nvSpPr>
        <p:spPr>
          <a:xfrm>
            <a:off x="8229600" y="4206240"/>
            <a:ext cx="1645920" cy="457200"/>
          </a:xfrm>
          <a:prstGeom prst="rect">
            <a:avLst/>
          </a:prstGeom>
          <a:noFill/>
          <a:ln/>
        </p:spPr>
        <p:txBody>
          <a:bodyPr wrap="square" lIns="0" tIns="0" rIns="0" bIns="0" rtlCol="0" anchor="t"/>
          <a:lstStyle/>
          <a:p>
            <a:pPr indent="0" marL="0">
              <a:buNone/>
            </a:pPr>
            <a:r>
              <a:rPr lang="en-US" sz="1400" dirty="0">
                <a:solidFill>
                  <a:schemeClr val="accent5"/>
                </a:solidFill>
              </a:rPr>
              <a:t>OLSR delivery</a:t>
            </a:r>
            <a:endParaRPr lang="en-US" sz="1400" dirty="0"/>
          </a:p>
        </p:txBody>
      </p:sp>
      <p:sp>
        <p:nvSpPr>
          <p:cNvPr id="9" name="DSDV speed value"/>
          <p:cNvSpPr txBox="1"/>
          <p:nvPr/>
        </p:nvSpPr>
        <p:spPr>
          <a:xfrm>
            <a:off x="9966960" y="3337560"/>
            <a:ext cx="1645920" cy="86868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47%</a:t>
            </a:r>
            <a:endParaRPr lang="en-US" sz="4800" dirty="0"/>
          </a:p>
        </p:txBody>
      </p:sp>
      <p:sp>
        <p:nvSpPr>
          <p:cNvPr id="10" name="DSDV speed label"/>
          <p:cNvSpPr txBox="1"/>
          <p:nvPr/>
        </p:nvSpPr>
        <p:spPr>
          <a:xfrm>
            <a:off x="9966960" y="4206240"/>
            <a:ext cx="1645920" cy="457200"/>
          </a:xfrm>
          <a:prstGeom prst="rect">
            <a:avLst/>
          </a:prstGeom>
          <a:noFill/>
          <a:ln/>
        </p:spPr>
        <p:txBody>
          <a:bodyPr wrap="square" lIns="0" tIns="0" rIns="0" bIns="0" rtlCol="0" anchor="t"/>
          <a:lstStyle/>
          <a:p>
            <a:pPr indent="0" marL="0">
              <a:buNone/>
            </a:pPr>
            <a:r>
              <a:rPr lang="en-US" sz="1400" dirty="0">
                <a:solidFill>
                  <a:schemeClr val="accent5"/>
                </a:solidFill>
              </a:rPr>
              <a:t>DSDV delivery</a:t>
            </a:r>
            <a:endParaRPr lang="en-US" sz="1400" dirty="0"/>
          </a:p>
        </p:txBody>
      </p:sp>
      <p:sp>
        <p:nvSpPr>
          <p:cNvPr id="11" name="speed note"/>
          <p:cNvSpPr txBox="1"/>
          <p:nvPr/>
        </p:nvSpPr>
        <p:spPr>
          <a:xfrm>
            <a:off x="8229600" y="4983480"/>
            <a:ext cx="3383280" cy="1097280"/>
          </a:xfrm>
          <a:prstGeom prst="rect">
            <a:avLst/>
          </a:prstGeom>
          <a:noFill/>
          <a:ln/>
        </p:spPr>
        <p:txBody>
          <a:bodyPr wrap="square" lIns="0" tIns="0" rIns="0" bIns="0" rtlCol="0" anchor="t"/>
          <a:lstStyle/>
          <a:p>
            <a:pPr indent="0" marL="0">
              <a:buNone/>
            </a:pPr>
            <a:r>
              <a:rPr lang="en-US" sz="1500" dirty="0">
                <a:solidFill>
                  <a:schemeClr val="accent5"/>
                </a:solidFill>
              </a:rPr>
              <a:t>Proactive tables refresh every 2–15 s, so fast nodes leave them stale; AODV repairs routes on demand.</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Heavy load congests every protocol</a:t>
            </a:r>
            <a:endParaRPr lang="en-US" sz="3400" dirty="0"/>
          </a:p>
        </p:txBody>
      </p:sp>
      <p:graphicFrame>
        <p:nvGraphicFramePr>
          <p:cNvPr id="3" name="PDR vs load chart" descr=""/>
          <p:cNvGraphicFramePr/>
          <p:nvPr/>
        </p:nvGraphicFramePr>
        <p:xfrm>
          <a:off x="548640" y="1325880"/>
          <a:ext cx="7223760" cy="4800600"/>
        </p:xfrm>
        <a:graphic xmlns:a="http://schemas.openxmlformats.org/drawingml/2006/main">
          <a:graphicData uri="http://schemas.openxmlformats.org/drawingml/2006/chart">
            <c:chart xmlns:c="http://schemas.openxmlformats.org/drawingml/2006/chart" r:id="rId1"/>
          </a:graphicData>
        </a:graphic>
      </p:graphicFrame>
      <p:sp>
        <p:nvSpPr>
          <p:cNvPr id="4" name="load notes"/>
          <p:cNvSpPr txBox="1"/>
          <p:nvPr/>
        </p:nvSpPr>
        <p:spPr>
          <a:xfrm>
            <a:off x="8229600" y="1463040"/>
            <a:ext cx="3383280" cy="4480560"/>
          </a:xfrm>
          <a:prstGeom prst="rect">
            <a:avLst/>
          </a:prstGeom>
          <a:noFill/>
          <a:ln/>
        </p:spPr>
        <p:txBody>
          <a:bodyPr wrap="square" lIns="0" tIns="0" rIns="0" bIns="0" rtlCol="0" anchor="t"/>
          <a:lstStyle/>
          <a:p>
            <a:pPr indent="0" marL="0">
              <a:buNone/>
            </a:pPr>
            <a:r>
              <a:rPr lang="en-US" sz="1600" b="1" dirty="0">
                <a:solidFill>
                  <a:schemeClr val="tx2"/>
                </a:solidFill>
              </a:rPr>
              <a:t>Up to 200 packets/s</a:t>
            </a:r>
            <a:endParaRPr lang="en-US" sz="1600" dirty="0"/>
          </a:p>
          <a:p>
            <a:pPr indent="0" marL="0">
              <a:buNone/>
            </a:pPr>
            <a:r>
              <a:rPr lang="en-US" sz="1600" dirty="0">
                <a:solidFill>
                  <a:schemeClr val="tx1"/>
                </a:solidFill>
              </a:rPr>
              <a:t>Throughput follows the offered load; delivery stays at its low-load level</a:t>
            </a:r>
            <a:endParaRPr lang="en-US" sz="1600" dirty="0"/>
          </a:p>
          <a:p>
            <a:pPr indent="0" marL="0">
              <a:buNone/>
            </a:pPr>
            <a:r>
              <a:rPr lang="en-US" sz="800" dirty="0">
                <a:solidFill>
                  <a:schemeClr val="tx1"/>
                </a:solidFill>
              </a:rPr>
              <a:t> </a:t>
            </a:r>
            <a:endParaRPr lang="en-US" sz="1600" dirty="0"/>
          </a:p>
          <a:p>
            <a:pPr indent="0" marL="0">
              <a:buNone/>
            </a:pPr>
            <a:r>
              <a:rPr lang="en-US" sz="1600" b="1" dirty="0">
                <a:solidFill>
                  <a:schemeClr val="tx2"/>
                </a:solidFill>
              </a:rPr>
              <a:t>At 800 packets/s</a:t>
            </a:r>
            <a:endParaRPr lang="en-US" sz="1600" dirty="0"/>
          </a:p>
          <a:p>
            <a:pPr indent="0" marL="0">
              <a:buNone/>
            </a:pPr>
            <a:r>
              <a:rPr lang="en-US" sz="1600" dirty="0">
                <a:solidFill>
                  <a:schemeClr val="tx1"/>
                </a:solidFill>
              </a:rPr>
              <a:t>PDR falls to 57% (AODV), 54% (DSDV) and 50% (OLSR); delay rises to 170–240 ms</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The price: routing overhead and delay</a:t>
            </a:r>
            <a:endParaRPr lang="en-US" sz="3400" dirty="0"/>
          </a:p>
        </p:txBody>
      </p:sp>
      <p:graphicFrame>
        <p:nvGraphicFramePr>
          <p:cNvPr id="3" name="overhead vs nodes chart" descr=""/>
          <p:cNvGraphicFramePr/>
          <p:nvPr/>
        </p:nvGraphicFramePr>
        <p:xfrm>
          <a:off x="548640" y="1325880"/>
          <a:ext cx="7223760" cy="4800600"/>
        </p:xfrm>
        <a:graphic xmlns:a="http://schemas.openxmlformats.org/drawingml/2006/main">
          <a:graphicData uri="http://schemas.openxmlformats.org/drawingml/2006/chart">
            <c:chart xmlns:c="http://schemas.openxmlformats.org/drawingml/2006/chart" r:id="rId1"/>
          </a:graphicData>
        </a:graphic>
      </p:graphicFrame>
      <p:sp>
        <p:nvSpPr>
          <p:cNvPr id="4" name="overhead value"/>
          <p:cNvSpPr txBox="1"/>
          <p:nvPr/>
        </p:nvSpPr>
        <p:spPr>
          <a:xfrm>
            <a:off x="8229600" y="1417320"/>
            <a:ext cx="338328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 2×</a:t>
            </a:r>
            <a:endParaRPr lang="en-US" sz="5400" dirty="0"/>
          </a:p>
        </p:txBody>
      </p:sp>
      <p:sp>
        <p:nvSpPr>
          <p:cNvPr id="5" name="overhead label"/>
          <p:cNvSpPr txBox="1"/>
          <p:nvPr/>
        </p:nvSpPr>
        <p:spPr>
          <a:xfrm>
            <a:off x="8229600" y="2286000"/>
            <a:ext cx="3383280" cy="548640"/>
          </a:xfrm>
          <a:prstGeom prst="rect">
            <a:avLst/>
          </a:prstGeom>
          <a:noFill/>
          <a:ln/>
        </p:spPr>
        <p:txBody>
          <a:bodyPr wrap="square" lIns="0" tIns="0" rIns="0" bIns="0" rtlCol="0" anchor="t"/>
          <a:lstStyle/>
          <a:p>
            <a:pPr indent="0" marL="0">
              <a:buNone/>
            </a:pPr>
            <a:r>
              <a:rPr lang="en-US" sz="1400" dirty="0">
                <a:solidFill>
                  <a:schemeClr val="accent5"/>
                </a:solidFill>
              </a:rPr>
              <a:t>AODV control packets vs OLSR and DSDV (10 nodes: 630 vs 353 / 325)</a:t>
            </a:r>
            <a:endParaRPr lang="en-US" sz="1400" dirty="0"/>
          </a:p>
        </p:txBody>
      </p:sp>
      <p:sp>
        <p:nvSpPr>
          <p:cNvPr id="6" name="delay value"/>
          <p:cNvSpPr txBox="1"/>
          <p:nvPr/>
        </p:nvSpPr>
        <p:spPr>
          <a:xfrm>
            <a:off x="8229600" y="3520440"/>
            <a:ext cx="3383280" cy="86868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41 ms</a:t>
            </a:r>
            <a:endParaRPr lang="en-US" sz="5400" dirty="0"/>
          </a:p>
        </p:txBody>
      </p:sp>
      <p:sp>
        <p:nvSpPr>
          <p:cNvPr id="7" name="delay label"/>
          <p:cNvSpPr txBox="1"/>
          <p:nvPr/>
        </p:nvSpPr>
        <p:spPr>
          <a:xfrm>
            <a:off x="8229600" y="4389120"/>
            <a:ext cx="3383280" cy="548640"/>
          </a:xfrm>
          <a:prstGeom prst="rect">
            <a:avLst/>
          </a:prstGeom>
          <a:noFill/>
          <a:ln/>
        </p:spPr>
        <p:txBody>
          <a:bodyPr wrap="square" lIns="0" tIns="0" rIns="0" bIns="0" rtlCol="0" anchor="t"/>
          <a:lstStyle/>
          <a:p>
            <a:pPr indent="0" marL="0">
              <a:buNone/>
            </a:pPr>
            <a:r>
              <a:rPr lang="en-US" sz="1400" dirty="0">
                <a:solidFill>
                  <a:schemeClr val="accent5"/>
                </a:solidFill>
              </a:rPr>
              <a:t>AODV mean delay at 10 nodes, vs 2 ms for OLSR: AODV buffers packets during discovery</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Comparative summary</a:t>
            </a:r>
            <a:endParaRPr lang="en-US" sz="3400" dirty="0"/>
          </a:p>
        </p:txBody>
      </p:sp>
      <p:sp>
        <p:nvSpPr>
          <p:cNvPr id="3" name="AODV summary card"/>
          <p:cNvSpPr/>
          <p:nvPr/>
        </p:nvSpPr>
        <p:spPr>
          <a:xfrm>
            <a:off x="548640" y="1371600"/>
            <a:ext cx="3520440" cy="2148840"/>
          </a:xfrm>
          <a:prstGeom prst="roundRect">
            <a:avLst>
              <a:gd name="adj" fmla="val 5106"/>
            </a:avLst>
          </a:prstGeom>
          <a:solidFill>
            <a:schemeClr val="bg2"/>
          </a:solidFill>
          <a:ln/>
        </p:spPr>
      </p:sp>
      <p:sp>
        <p:nvSpPr>
          <p:cNvPr id="4" name="AODV mean PDR"/>
          <p:cNvSpPr txBox="1"/>
          <p:nvPr/>
        </p:nvSpPr>
        <p:spPr>
          <a:xfrm>
            <a:off x="822960" y="1554480"/>
            <a:ext cx="2971800" cy="1005840"/>
          </a:xfrm>
          <a:prstGeom prst="rect">
            <a:avLst/>
          </a:prstGeom>
          <a:noFill/>
          <a:ln/>
        </p:spPr>
        <p:txBody>
          <a:bodyPr wrap="square" lIns="0" tIns="0" rIns="0" bIns="0" rtlCol="0" anchor="t"/>
          <a:lstStyle/>
          <a:p>
            <a:pPr algn="ctr" indent="0" marL="0">
              <a:buNone/>
            </a:pPr>
            <a:r>
              <a:rPr lang="en-US" sz="6000" b="1" dirty="0">
                <a:solidFill>
                  <a:schemeClr val="accent1"/>
                </a:solidFill>
                <a:latin typeface="Cambria" pitchFamily="34" charset="0"/>
                <a:ea typeface="Cambria" pitchFamily="34" charset="-122"/>
                <a:cs typeface="Cambria" pitchFamily="34" charset="-120"/>
              </a:rPr>
              <a:t>77.9%</a:t>
            </a:r>
            <a:endParaRPr lang="en-US" sz="6000" dirty="0"/>
          </a:p>
        </p:txBody>
      </p:sp>
      <p:sp>
        <p:nvSpPr>
          <p:cNvPr id="5" name="AODV mean PDR label"/>
          <p:cNvSpPr txBox="1"/>
          <p:nvPr/>
        </p:nvSpPr>
        <p:spPr>
          <a:xfrm>
            <a:off x="822960" y="2697480"/>
            <a:ext cx="2971800" cy="548640"/>
          </a:xfrm>
          <a:prstGeom prst="rect">
            <a:avLst/>
          </a:prstGeom>
          <a:noFill/>
          <a:ln/>
        </p:spPr>
        <p:txBody>
          <a:bodyPr wrap="square" lIns="0" tIns="0" rIns="0" bIns="0" rtlCol="0" anchor="t"/>
          <a:lstStyle/>
          <a:p>
            <a:pPr algn="ctr" indent="0" marL="0">
              <a:buNone/>
            </a:pPr>
            <a:r>
              <a:rPr lang="en-US" sz="1500" dirty="0">
                <a:solidFill>
                  <a:schemeClr val="accent5"/>
                </a:solidFill>
              </a:rPr>
              <a:t>AODV: mean PDR over 13 settings</a:t>
            </a:r>
            <a:endParaRPr lang="en-US" sz="1500" dirty="0"/>
          </a:p>
        </p:txBody>
      </p:sp>
      <p:sp>
        <p:nvSpPr>
          <p:cNvPr id="6" name="OLSR summary card"/>
          <p:cNvSpPr/>
          <p:nvPr/>
        </p:nvSpPr>
        <p:spPr>
          <a:xfrm>
            <a:off x="4325112" y="1371600"/>
            <a:ext cx="3520440" cy="2148840"/>
          </a:xfrm>
          <a:prstGeom prst="roundRect">
            <a:avLst>
              <a:gd name="adj" fmla="val 5106"/>
            </a:avLst>
          </a:prstGeom>
          <a:solidFill>
            <a:schemeClr val="bg2"/>
          </a:solidFill>
          <a:ln/>
        </p:spPr>
      </p:sp>
      <p:sp>
        <p:nvSpPr>
          <p:cNvPr id="7" name="OLSR mean PDR"/>
          <p:cNvSpPr txBox="1"/>
          <p:nvPr/>
        </p:nvSpPr>
        <p:spPr>
          <a:xfrm>
            <a:off x="4599432" y="1554480"/>
            <a:ext cx="2971800" cy="1005840"/>
          </a:xfrm>
          <a:prstGeom prst="rect">
            <a:avLst/>
          </a:prstGeom>
          <a:noFill/>
          <a:ln/>
        </p:spPr>
        <p:txBody>
          <a:bodyPr wrap="square" lIns="0" tIns="0" rIns="0" bIns="0" rtlCol="0" anchor="t"/>
          <a:lstStyle/>
          <a:p>
            <a:pPr algn="ctr" indent="0" marL="0">
              <a:buNone/>
            </a:pPr>
            <a:r>
              <a:rPr lang="en-US" sz="6000" b="1" dirty="0">
                <a:solidFill>
                  <a:schemeClr val="accent2"/>
                </a:solidFill>
                <a:latin typeface="Cambria" pitchFamily="34" charset="0"/>
                <a:ea typeface="Cambria" pitchFamily="34" charset="-122"/>
                <a:cs typeface="Cambria" pitchFamily="34" charset="-120"/>
              </a:rPr>
              <a:t>66.2%</a:t>
            </a:r>
            <a:endParaRPr lang="en-US" sz="6000" dirty="0"/>
          </a:p>
        </p:txBody>
      </p:sp>
      <p:sp>
        <p:nvSpPr>
          <p:cNvPr id="8" name="OLSR mean PDR label"/>
          <p:cNvSpPr txBox="1"/>
          <p:nvPr/>
        </p:nvSpPr>
        <p:spPr>
          <a:xfrm>
            <a:off x="4599432" y="2697480"/>
            <a:ext cx="2971800" cy="548640"/>
          </a:xfrm>
          <a:prstGeom prst="rect">
            <a:avLst/>
          </a:prstGeom>
          <a:noFill/>
          <a:ln/>
        </p:spPr>
        <p:txBody>
          <a:bodyPr wrap="square" lIns="0" tIns="0" rIns="0" bIns="0" rtlCol="0" anchor="t"/>
          <a:lstStyle/>
          <a:p>
            <a:pPr algn="ctr" indent="0" marL="0">
              <a:buNone/>
            </a:pPr>
            <a:r>
              <a:rPr lang="en-US" sz="1500" dirty="0">
                <a:solidFill>
                  <a:schemeClr val="accent5"/>
                </a:solidFill>
              </a:rPr>
              <a:t>OLSR: mean PDR over 13 settings</a:t>
            </a:r>
            <a:endParaRPr lang="en-US" sz="1500" dirty="0"/>
          </a:p>
        </p:txBody>
      </p:sp>
      <p:sp>
        <p:nvSpPr>
          <p:cNvPr id="9" name="DSDV summary card"/>
          <p:cNvSpPr/>
          <p:nvPr/>
        </p:nvSpPr>
        <p:spPr>
          <a:xfrm>
            <a:off x="8101584" y="1371600"/>
            <a:ext cx="3520440" cy="2148840"/>
          </a:xfrm>
          <a:prstGeom prst="roundRect">
            <a:avLst>
              <a:gd name="adj" fmla="val 5106"/>
            </a:avLst>
          </a:prstGeom>
          <a:solidFill>
            <a:schemeClr val="bg2"/>
          </a:solidFill>
          <a:ln/>
        </p:spPr>
      </p:sp>
      <p:sp>
        <p:nvSpPr>
          <p:cNvPr id="10" name="DSDV mean PDR"/>
          <p:cNvSpPr txBox="1"/>
          <p:nvPr/>
        </p:nvSpPr>
        <p:spPr>
          <a:xfrm>
            <a:off x="8375904" y="1554480"/>
            <a:ext cx="2971800" cy="1005840"/>
          </a:xfrm>
          <a:prstGeom prst="rect">
            <a:avLst/>
          </a:prstGeom>
          <a:noFill/>
          <a:ln/>
        </p:spPr>
        <p:txBody>
          <a:bodyPr wrap="square" lIns="0" tIns="0" rIns="0" bIns="0" rtlCol="0" anchor="t"/>
          <a:lstStyle/>
          <a:p>
            <a:pPr algn="ctr" indent="0" marL="0">
              <a:buNone/>
            </a:pPr>
            <a:r>
              <a:rPr lang="en-US" sz="6000" b="1" dirty="0">
                <a:solidFill>
                  <a:schemeClr val="accent3"/>
                </a:solidFill>
                <a:latin typeface="Cambria" pitchFamily="34" charset="0"/>
                <a:ea typeface="Cambria" pitchFamily="34" charset="-122"/>
                <a:cs typeface="Cambria" pitchFamily="34" charset="-120"/>
              </a:rPr>
              <a:t>65.0%</a:t>
            </a:r>
            <a:endParaRPr lang="en-US" sz="6000" dirty="0"/>
          </a:p>
        </p:txBody>
      </p:sp>
      <p:sp>
        <p:nvSpPr>
          <p:cNvPr id="11" name="DSDV mean PDR label"/>
          <p:cNvSpPr txBox="1"/>
          <p:nvPr/>
        </p:nvSpPr>
        <p:spPr>
          <a:xfrm>
            <a:off x="8375904" y="2697480"/>
            <a:ext cx="2971800" cy="548640"/>
          </a:xfrm>
          <a:prstGeom prst="rect">
            <a:avLst/>
          </a:prstGeom>
          <a:noFill/>
          <a:ln/>
        </p:spPr>
        <p:txBody>
          <a:bodyPr wrap="square" lIns="0" tIns="0" rIns="0" bIns="0" rtlCol="0" anchor="t"/>
          <a:lstStyle/>
          <a:p>
            <a:pPr algn="ctr" indent="0" marL="0">
              <a:buNone/>
            </a:pPr>
            <a:r>
              <a:rPr lang="en-US" sz="1500" dirty="0">
                <a:solidFill>
                  <a:schemeClr val="accent5"/>
                </a:solidFill>
              </a:rPr>
              <a:t>DSDV: mean PDR over 13 settings</a:t>
            </a:r>
            <a:endParaRPr lang="en-US" sz="1500" dirty="0"/>
          </a:p>
        </p:txBody>
      </p:sp>
      <p:sp>
        <p:nvSpPr>
          <p:cNvPr id="12" name="verdict 1 circle"/>
          <p:cNvSpPr/>
          <p:nvPr/>
        </p:nvSpPr>
        <p:spPr>
          <a:xfrm>
            <a:off x="548640" y="3794760"/>
            <a:ext cx="566928" cy="566928"/>
          </a:xfrm>
          <a:prstGeom prst="ellipse">
            <a:avLst/>
          </a:prstGeom>
          <a:solidFill>
            <a:schemeClr val="accent1"/>
          </a:solidFill>
          <a:ln/>
        </p:spPr>
      </p:sp>
      <p:pic>
        <p:nvPicPr>
          <p:cNvPr id="13" name="verdict 1 icon" descr="preencoded.png">    </p:cNvPr>
          <p:cNvPicPr>
            <a:picLocks noChangeAspect="1"/>
          </p:cNvPicPr>
          <p:nvPr/>
        </p:nvPicPr>
        <p:blipFill>
          <a:blip r:embed="rId1"/>
          <a:stretch>
            <a:fillRect/>
          </a:stretch>
        </p:blipFill>
        <p:spPr>
          <a:xfrm>
            <a:off x="690372" y="3936492"/>
            <a:ext cx="283464" cy="283464"/>
          </a:xfrm>
          <a:prstGeom prst="rect">
            <a:avLst/>
          </a:prstGeom>
        </p:spPr>
      </p:pic>
      <p:sp>
        <p:nvSpPr>
          <p:cNvPr id="14" name="verdict 1"/>
          <p:cNvSpPr txBox="1"/>
          <p:nvPr/>
        </p:nvSpPr>
        <p:spPr>
          <a:xfrm>
            <a:off x="1325880" y="3794760"/>
            <a:ext cx="10287000" cy="566928"/>
          </a:xfrm>
          <a:prstGeom prst="rect">
            <a:avLst/>
          </a:prstGeom>
          <a:noFill/>
          <a:ln/>
        </p:spPr>
        <p:txBody>
          <a:bodyPr wrap="square" lIns="0" tIns="0" rIns="0" bIns="0" rtlCol="0" anchor="ctr"/>
          <a:lstStyle/>
          <a:p>
            <a:pPr indent="0" marL="0">
              <a:buNone/>
            </a:pPr>
            <a:r>
              <a:rPr lang="en-US" sz="1700" dirty="0">
                <a:solidFill>
                  <a:schemeClr val="tx1"/>
                </a:solidFill>
              </a:rPr>
              <a:t>AODV delivers significantly more in 12 of 13 settings than OLSR and 9 of 13 than DSDV, and never significantly less</a:t>
            </a:r>
            <a:endParaRPr lang="en-US" sz="1700" dirty="0"/>
          </a:p>
        </p:txBody>
      </p:sp>
      <p:sp>
        <p:nvSpPr>
          <p:cNvPr id="15" name="verdict 2 circle"/>
          <p:cNvSpPr/>
          <p:nvPr/>
        </p:nvSpPr>
        <p:spPr>
          <a:xfrm>
            <a:off x="548640" y="4572000"/>
            <a:ext cx="566928" cy="566928"/>
          </a:xfrm>
          <a:prstGeom prst="ellipse">
            <a:avLst/>
          </a:prstGeom>
          <a:solidFill>
            <a:schemeClr val="accent2"/>
          </a:solidFill>
          <a:ln/>
        </p:spPr>
      </p:sp>
      <p:pic>
        <p:nvPicPr>
          <p:cNvPr id="16" name="verdict 2 icon" descr="preencoded.png">    </p:cNvPr>
          <p:cNvPicPr>
            <a:picLocks noChangeAspect="1"/>
          </p:cNvPicPr>
          <p:nvPr/>
        </p:nvPicPr>
        <p:blipFill>
          <a:blip r:embed="rId2"/>
          <a:stretch>
            <a:fillRect/>
          </a:stretch>
        </p:blipFill>
        <p:spPr>
          <a:xfrm>
            <a:off x="690372" y="4713732"/>
            <a:ext cx="283464" cy="283464"/>
          </a:xfrm>
          <a:prstGeom prst="rect">
            <a:avLst/>
          </a:prstGeom>
        </p:spPr>
      </p:pic>
      <p:sp>
        <p:nvSpPr>
          <p:cNvPr id="17" name="verdict 2"/>
          <p:cNvSpPr txBox="1"/>
          <p:nvPr/>
        </p:nvSpPr>
        <p:spPr>
          <a:xfrm>
            <a:off x="1325880" y="4572000"/>
            <a:ext cx="10287000" cy="566928"/>
          </a:xfrm>
          <a:prstGeom prst="rect">
            <a:avLst/>
          </a:prstGeom>
          <a:noFill/>
          <a:ln/>
        </p:spPr>
        <p:txBody>
          <a:bodyPr wrap="square" lIns="0" tIns="0" rIns="0" bIns="0" rtlCol="0" anchor="ctr"/>
          <a:lstStyle/>
          <a:p>
            <a:pPr indent="0" marL="0">
              <a:buNone/>
            </a:pPr>
            <a:r>
              <a:rPr lang="en-US" sz="1700" dirty="0">
                <a:solidFill>
                  <a:schemeClr val="tx1"/>
                </a:solidFill>
              </a:rPr>
              <a:t>AODV sends about twice the routing overhead and has a higher mean delay and jitter</a:t>
            </a:r>
            <a:endParaRPr lang="en-US" sz="1700" dirty="0"/>
          </a:p>
        </p:txBody>
      </p:sp>
      <p:sp>
        <p:nvSpPr>
          <p:cNvPr id="18" name="verdict 3 circle"/>
          <p:cNvSpPr/>
          <p:nvPr/>
        </p:nvSpPr>
        <p:spPr>
          <a:xfrm>
            <a:off x="548640" y="5349240"/>
            <a:ext cx="566928" cy="566928"/>
          </a:xfrm>
          <a:prstGeom prst="ellipse">
            <a:avLst/>
          </a:prstGeom>
          <a:solidFill>
            <a:schemeClr val="accent3"/>
          </a:solidFill>
          <a:ln/>
        </p:spPr>
      </p:sp>
      <p:pic>
        <p:nvPicPr>
          <p:cNvPr id="19" name="verdict 3 icon" descr="preencoded.png">    </p:cNvPr>
          <p:cNvPicPr>
            <a:picLocks noChangeAspect="1"/>
          </p:cNvPicPr>
          <p:nvPr/>
        </p:nvPicPr>
        <p:blipFill>
          <a:blip r:embed="rId3"/>
          <a:stretch>
            <a:fillRect/>
          </a:stretch>
        </p:blipFill>
        <p:spPr>
          <a:xfrm>
            <a:off x="690372" y="5490972"/>
            <a:ext cx="283464" cy="283464"/>
          </a:xfrm>
          <a:prstGeom prst="rect">
            <a:avLst/>
          </a:prstGeom>
        </p:spPr>
      </p:pic>
      <p:sp>
        <p:nvSpPr>
          <p:cNvPr id="20" name="verdict 3"/>
          <p:cNvSpPr txBox="1"/>
          <p:nvPr/>
        </p:nvSpPr>
        <p:spPr>
          <a:xfrm>
            <a:off x="1325880" y="5349240"/>
            <a:ext cx="10287000" cy="566928"/>
          </a:xfrm>
          <a:prstGeom prst="rect">
            <a:avLst/>
          </a:prstGeom>
          <a:noFill/>
          <a:ln/>
        </p:spPr>
        <p:txBody>
          <a:bodyPr wrap="square" lIns="0" tIns="0" rIns="0" bIns="0" rtlCol="0" anchor="ctr"/>
          <a:lstStyle/>
          <a:p>
            <a:pPr indent="0" marL="0">
              <a:buNone/>
            </a:pPr>
            <a:r>
              <a:rPr lang="en-US" sz="1700" dirty="0">
                <a:solidFill>
                  <a:schemeClr val="tx1"/>
                </a:solidFill>
              </a:rPr>
              <a:t>Paired by topology, so differences are significant despite large run-to-run spread</a:t>
            </a:r>
            <a:endParaRPr lang="en-US" sz="17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The results are validated</a:t>
            </a:r>
            <a:endParaRPr lang="en-US" sz="3400" dirty="0"/>
          </a:p>
        </p:txBody>
      </p:sp>
      <p:sp>
        <p:nvSpPr>
          <p:cNvPr id="3" name="check Regression card"/>
          <p:cNvSpPr/>
          <p:nvPr/>
        </p:nvSpPr>
        <p:spPr>
          <a:xfrm>
            <a:off x="548640" y="1371600"/>
            <a:ext cx="5394960" cy="1280160"/>
          </a:xfrm>
          <a:prstGeom prst="roundRect">
            <a:avLst>
              <a:gd name="adj" fmla="val 8571"/>
            </a:avLst>
          </a:prstGeom>
          <a:solidFill>
            <a:schemeClr val="bg2"/>
          </a:solidFill>
          <a:ln/>
        </p:spPr>
      </p:sp>
      <p:sp>
        <p:nvSpPr>
          <p:cNvPr id="4" name="Regression circle"/>
          <p:cNvSpPr/>
          <p:nvPr/>
        </p:nvSpPr>
        <p:spPr>
          <a:xfrm>
            <a:off x="822960" y="1691640"/>
            <a:ext cx="640080" cy="640080"/>
          </a:xfrm>
          <a:prstGeom prst="ellipse">
            <a:avLst/>
          </a:prstGeom>
          <a:solidFill>
            <a:schemeClr val="accent3"/>
          </a:solidFill>
          <a:ln/>
        </p:spPr>
      </p:sp>
      <p:pic>
        <p:nvPicPr>
          <p:cNvPr id="5" name="Regression icon" descr="preencoded.png">    </p:cNvPr>
          <p:cNvPicPr>
            <a:picLocks noChangeAspect="1"/>
          </p:cNvPicPr>
          <p:nvPr/>
        </p:nvPicPr>
        <p:blipFill>
          <a:blip r:embed="rId1"/>
          <a:stretch>
            <a:fillRect/>
          </a:stretch>
        </p:blipFill>
        <p:spPr>
          <a:xfrm>
            <a:off x="982980" y="1851660"/>
            <a:ext cx="320040" cy="320040"/>
          </a:xfrm>
          <a:prstGeom prst="rect">
            <a:avLst/>
          </a:prstGeom>
        </p:spPr>
      </p:pic>
      <p:sp>
        <p:nvSpPr>
          <p:cNvPr id="6" name="Regression title"/>
          <p:cNvSpPr txBox="1"/>
          <p:nvPr/>
        </p:nvSpPr>
        <p:spPr>
          <a:xfrm>
            <a:off x="1691640" y="1554480"/>
            <a:ext cx="4023360" cy="411480"/>
          </a:xfrm>
          <a:prstGeom prst="rect">
            <a:avLst/>
          </a:prstGeom>
          <a:noFill/>
          <a:ln/>
        </p:spPr>
        <p:txBody>
          <a:bodyPr wrap="square" lIns="0" tIns="0" rIns="0" bIns="0" rtlCol="0" anchor="t"/>
          <a:lstStyle/>
          <a:p>
            <a:pPr indent="0" marL="0">
              <a:buNone/>
            </a:pPr>
            <a:r>
              <a:rPr lang="en-US" sz="1800" b="1" dirty="0">
                <a:solidFill>
                  <a:schemeClr val="tx2"/>
                </a:solidFill>
              </a:rPr>
              <a:t>Regression</a:t>
            </a:r>
            <a:endParaRPr lang="en-US" sz="1800" dirty="0"/>
          </a:p>
        </p:txBody>
      </p:sp>
      <p:sp>
        <p:nvSpPr>
          <p:cNvPr id="7" name="Regression text"/>
          <p:cNvSpPr txBox="1"/>
          <p:nvPr/>
        </p:nvSpPr>
        <p:spPr>
          <a:xfrm>
            <a:off x="1691640" y="1965960"/>
            <a:ext cx="4023360" cy="548640"/>
          </a:xfrm>
          <a:prstGeom prst="rect">
            <a:avLst/>
          </a:prstGeom>
          <a:noFill/>
          <a:ln/>
        </p:spPr>
        <p:txBody>
          <a:bodyPr wrap="square" lIns="0" tIns="0" rIns="0" bIns="0" rtlCol="0" anchor="t"/>
          <a:lstStyle/>
          <a:p>
            <a:pPr indent="0" marL="0">
              <a:buNone/>
            </a:pPr>
            <a:r>
              <a:rPr lang="en-US" sz="1500" dirty="0">
                <a:solidFill>
                  <a:schemeClr val="tx1"/>
                </a:solidFill>
              </a:rPr>
              <a:t>All 140 AODV runs identical to the original study</a:t>
            </a:r>
            <a:endParaRPr lang="en-US" sz="1500" dirty="0"/>
          </a:p>
        </p:txBody>
      </p:sp>
      <p:sp>
        <p:nvSpPr>
          <p:cNvPr id="8" name="check Packets sent card"/>
          <p:cNvSpPr/>
          <p:nvPr/>
        </p:nvSpPr>
        <p:spPr>
          <a:xfrm>
            <a:off x="6217920" y="1371600"/>
            <a:ext cx="5394960" cy="1280160"/>
          </a:xfrm>
          <a:prstGeom prst="roundRect">
            <a:avLst>
              <a:gd name="adj" fmla="val 8571"/>
            </a:avLst>
          </a:prstGeom>
          <a:solidFill>
            <a:schemeClr val="bg2"/>
          </a:solidFill>
          <a:ln/>
        </p:spPr>
      </p:sp>
      <p:sp>
        <p:nvSpPr>
          <p:cNvPr id="9" name="Packets sent circle"/>
          <p:cNvSpPr/>
          <p:nvPr/>
        </p:nvSpPr>
        <p:spPr>
          <a:xfrm>
            <a:off x="6492240" y="1691640"/>
            <a:ext cx="640080" cy="640080"/>
          </a:xfrm>
          <a:prstGeom prst="ellipse">
            <a:avLst/>
          </a:prstGeom>
          <a:solidFill>
            <a:schemeClr val="accent3"/>
          </a:solidFill>
          <a:ln/>
        </p:spPr>
      </p:sp>
      <p:pic>
        <p:nvPicPr>
          <p:cNvPr id="10" name="Packets sent icon" descr="preencoded.png">    </p:cNvPr>
          <p:cNvPicPr>
            <a:picLocks noChangeAspect="1"/>
          </p:cNvPicPr>
          <p:nvPr/>
        </p:nvPicPr>
        <p:blipFill>
          <a:blip r:embed="rId2"/>
          <a:stretch>
            <a:fillRect/>
          </a:stretch>
        </p:blipFill>
        <p:spPr>
          <a:xfrm>
            <a:off x="6652260" y="1851660"/>
            <a:ext cx="320040" cy="320040"/>
          </a:xfrm>
          <a:prstGeom prst="rect">
            <a:avLst/>
          </a:prstGeom>
        </p:spPr>
      </p:pic>
      <p:sp>
        <p:nvSpPr>
          <p:cNvPr id="11" name="Packets sent title"/>
          <p:cNvSpPr txBox="1"/>
          <p:nvPr/>
        </p:nvSpPr>
        <p:spPr>
          <a:xfrm>
            <a:off x="7360920" y="1554480"/>
            <a:ext cx="4023360" cy="411480"/>
          </a:xfrm>
          <a:prstGeom prst="rect">
            <a:avLst/>
          </a:prstGeom>
          <a:noFill/>
          <a:ln/>
        </p:spPr>
        <p:txBody>
          <a:bodyPr wrap="square" lIns="0" tIns="0" rIns="0" bIns="0" rtlCol="0" anchor="t"/>
          <a:lstStyle/>
          <a:p>
            <a:pPr indent="0" marL="0">
              <a:buNone/>
            </a:pPr>
            <a:r>
              <a:rPr lang="en-US" sz="1800" b="1" dirty="0">
                <a:solidFill>
                  <a:schemeClr val="tx2"/>
                </a:solidFill>
              </a:rPr>
              <a:t>Packets sent</a:t>
            </a:r>
            <a:endParaRPr lang="en-US" sz="1800" dirty="0"/>
          </a:p>
        </p:txBody>
      </p:sp>
      <p:sp>
        <p:nvSpPr>
          <p:cNvPr id="12" name="Packets sent text"/>
          <p:cNvSpPr txBox="1"/>
          <p:nvPr/>
        </p:nvSpPr>
        <p:spPr>
          <a:xfrm>
            <a:off x="7360920" y="1965960"/>
            <a:ext cx="4023360" cy="548640"/>
          </a:xfrm>
          <a:prstGeom prst="rect">
            <a:avLst/>
          </a:prstGeom>
          <a:noFill/>
          <a:ln/>
        </p:spPr>
        <p:txBody>
          <a:bodyPr wrap="square" lIns="0" tIns="0" rIns="0" bIns="0" rtlCol="0" anchor="t"/>
          <a:lstStyle/>
          <a:p>
            <a:pPr indent="0" marL="0">
              <a:buNone/>
            </a:pPr>
            <a:r>
              <a:rPr lang="en-US" sz="1500" dirty="0">
                <a:solidFill>
                  <a:schemeClr val="tx1"/>
                </a:solidFill>
              </a:rPr>
              <a:t>57 s × rate in all 420 runs</a:t>
            </a:r>
            <a:endParaRPr lang="en-US" sz="1500" dirty="0"/>
          </a:p>
        </p:txBody>
      </p:sp>
      <p:sp>
        <p:nvSpPr>
          <p:cNvPr id="13" name="check Loss and PDR card"/>
          <p:cNvSpPr/>
          <p:nvPr/>
        </p:nvSpPr>
        <p:spPr>
          <a:xfrm>
            <a:off x="548640" y="2880360"/>
            <a:ext cx="5394960" cy="1280160"/>
          </a:xfrm>
          <a:prstGeom prst="roundRect">
            <a:avLst>
              <a:gd name="adj" fmla="val 8571"/>
            </a:avLst>
          </a:prstGeom>
          <a:solidFill>
            <a:schemeClr val="bg2"/>
          </a:solidFill>
          <a:ln/>
        </p:spPr>
      </p:sp>
      <p:sp>
        <p:nvSpPr>
          <p:cNvPr id="14" name="Loss and PDR circle"/>
          <p:cNvSpPr/>
          <p:nvPr/>
        </p:nvSpPr>
        <p:spPr>
          <a:xfrm>
            <a:off x="822960" y="3200400"/>
            <a:ext cx="640080" cy="640080"/>
          </a:xfrm>
          <a:prstGeom prst="ellipse">
            <a:avLst/>
          </a:prstGeom>
          <a:solidFill>
            <a:schemeClr val="accent3"/>
          </a:solidFill>
          <a:ln/>
        </p:spPr>
      </p:sp>
      <p:pic>
        <p:nvPicPr>
          <p:cNvPr id="15" name="Loss and PDR icon" descr="preencoded.png">    </p:cNvPr>
          <p:cNvPicPr>
            <a:picLocks noChangeAspect="1"/>
          </p:cNvPicPr>
          <p:nvPr/>
        </p:nvPicPr>
        <p:blipFill>
          <a:blip r:embed="rId3"/>
          <a:stretch>
            <a:fillRect/>
          </a:stretch>
        </p:blipFill>
        <p:spPr>
          <a:xfrm>
            <a:off x="982980" y="3360420"/>
            <a:ext cx="320040" cy="320040"/>
          </a:xfrm>
          <a:prstGeom prst="rect">
            <a:avLst/>
          </a:prstGeom>
        </p:spPr>
      </p:pic>
      <p:sp>
        <p:nvSpPr>
          <p:cNvPr id="16" name="Loss and PDR title"/>
          <p:cNvSpPr txBox="1"/>
          <p:nvPr/>
        </p:nvSpPr>
        <p:spPr>
          <a:xfrm>
            <a:off x="1691640" y="30632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Loss and PDR</a:t>
            </a:r>
            <a:endParaRPr lang="en-US" sz="1800" dirty="0"/>
          </a:p>
        </p:txBody>
      </p:sp>
      <p:sp>
        <p:nvSpPr>
          <p:cNvPr id="17" name="Loss and PDR text"/>
          <p:cNvSpPr txBox="1"/>
          <p:nvPr/>
        </p:nvSpPr>
        <p:spPr>
          <a:xfrm>
            <a:off x="1691640" y="3474720"/>
            <a:ext cx="4023360" cy="548640"/>
          </a:xfrm>
          <a:prstGeom prst="rect">
            <a:avLst/>
          </a:prstGeom>
          <a:noFill/>
          <a:ln/>
        </p:spPr>
        <p:txBody>
          <a:bodyPr wrap="square" lIns="0" tIns="0" rIns="0" bIns="0" rtlCol="0" anchor="t"/>
          <a:lstStyle/>
          <a:p>
            <a:pPr indent="0" marL="0">
              <a:buNone/>
            </a:pPr>
            <a:r>
              <a:rPr lang="en-US" sz="1500" dirty="0">
                <a:solidFill>
                  <a:schemeClr val="tx1"/>
                </a:solidFill>
              </a:rPr>
              <a:t>Loss = 100 − PDR in all 420 runs</a:t>
            </a:r>
            <a:endParaRPr lang="en-US" sz="1500" dirty="0"/>
          </a:p>
        </p:txBody>
      </p:sp>
      <p:sp>
        <p:nvSpPr>
          <p:cNvPr id="18" name="check Throughput card"/>
          <p:cNvSpPr/>
          <p:nvPr/>
        </p:nvSpPr>
        <p:spPr>
          <a:xfrm>
            <a:off x="6217920" y="2880360"/>
            <a:ext cx="5394960" cy="1280160"/>
          </a:xfrm>
          <a:prstGeom prst="roundRect">
            <a:avLst>
              <a:gd name="adj" fmla="val 8571"/>
            </a:avLst>
          </a:prstGeom>
          <a:solidFill>
            <a:schemeClr val="bg2"/>
          </a:solidFill>
          <a:ln/>
        </p:spPr>
      </p:sp>
      <p:sp>
        <p:nvSpPr>
          <p:cNvPr id="19" name="Throughput circle"/>
          <p:cNvSpPr/>
          <p:nvPr/>
        </p:nvSpPr>
        <p:spPr>
          <a:xfrm>
            <a:off x="6492240" y="3200400"/>
            <a:ext cx="640080" cy="640080"/>
          </a:xfrm>
          <a:prstGeom prst="ellipse">
            <a:avLst/>
          </a:prstGeom>
          <a:solidFill>
            <a:schemeClr val="accent3"/>
          </a:solidFill>
          <a:ln/>
        </p:spPr>
      </p:sp>
      <p:pic>
        <p:nvPicPr>
          <p:cNvPr id="20" name="Throughput icon" descr="preencoded.png">    </p:cNvPr>
          <p:cNvPicPr>
            <a:picLocks noChangeAspect="1"/>
          </p:cNvPicPr>
          <p:nvPr/>
        </p:nvPicPr>
        <p:blipFill>
          <a:blip r:embed="rId4"/>
          <a:stretch>
            <a:fillRect/>
          </a:stretch>
        </p:blipFill>
        <p:spPr>
          <a:xfrm>
            <a:off x="6652260" y="3360420"/>
            <a:ext cx="320040" cy="320040"/>
          </a:xfrm>
          <a:prstGeom prst="rect">
            <a:avLst/>
          </a:prstGeom>
        </p:spPr>
      </p:pic>
      <p:sp>
        <p:nvSpPr>
          <p:cNvPr id="21" name="Throughput title"/>
          <p:cNvSpPr txBox="1"/>
          <p:nvPr/>
        </p:nvSpPr>
        <p:spPr>
          <a:xfrm>
            <a:off x="7360920" y="30632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Throughput</a:t>
            </a:r>
            <a:endParaRPr lang="en-US" sz="1800" dirty="0"/>
          </a:p>
        </p:txBody>
      </p:sp>
      <p:sp>
        <p:nvSpPr>
          <p:cNvPr id="22" name="Throughput text"/>
          <p:cNvSpPr txBox="1"/>
          <p:nvPr/>
        </p:nvSpPr>
        <p:spPr>
          <a:xfrm>
            <a:off x="7360920" y="3474720"/>
            <a:ext cx="4023360" cy="548640"/>
          </a:xfrm>
          <a:prstGeom prst="rect">
            <a:avLst/>
          </a:prstGeom>
          <a:noFill/>
          <a:ln/>
        </p:spPr>
        <p:txBody>
          <a:bodyPr wrap="square" lIns="0" tIns="0" rIns="0" bIns="0" rtlCol="0" anchor="t"/>
          <a:lstStyle/>
          <a:p>
            <a:pPr indent="0" marL="0">
              <a:buNone/>
            </a:pPr>
            <a:r>
              <a:rPr lang="en-US" sz="1500" dirty="0">
                <a:solidFill>
                  <a:schemeClr val="tx1"/>
                </a:solidFill>
              </a:rPr>
              <a:t>Equals offered load × PDR within 0.002 kbps</a:t>
            </a:r>
            <a:endParaRPr lang="en-US" sz="1500" dirty="0"/>
          </a:p>
        </p:txBody>
      </p:sp>
      <p:sp>
        <p:nvSpPr>
          <p:cNvPr id="23" name="check OLSR overhead card"/>
          <p:cNvSpPr/>
          <p:nvPr/>
        </p:nvSpPr>
        <p:spPr>
          <a:xfrm>
            <a:off x="548640" y="4389120"/>
            <a:ext cx="5394960" cy="1280160"/>
          </a:xfrm>
          <a:prstGeom prst="roundRect">
            <a:avLst>
              <a:gd name="adj" fmla="val 8571"/>
            </a:avLst>
          </a:prstGeom>
          <a:solidFill>
            <a:schemeClr val="bg2"/>
          </a:solidFill>
          <a:ln/>
        </p:spPr>
      </p:sp>
      <p:sp>
        <p:nvSpPr>
          <p:cNvPr id="24" name="OLSR overhead circle"/>
          <p:cNvSpPr/>
          <p:nvPr/>
        </p:nvSpPr>
        <p:spPr>
          <a:xfrm>
            <a:off x="822960" y="4709160"/>
            <a:ext cx="640080" cy="640080"/>
          </a:xfrm>
          <a:prstGeom prst="ellipse">
            <a:avLst/>
          </a:prstGeom>
          <a:solidFill>
            <a:schemeClr val="accent3"/>
          </a:solidFill>
          <a:ln/>
        </p:spPr>
      </p:sp>
      <p:pic>
        <p:nvPicPr>
          <p:cNvPr id="25" name="OLSR overhead icon" descr="preencoded.png">    </p:cNvPr>
          <p:cNvPicPr>
            <a:picLocks noChangeAspect="1"/>
          </p:cNvPicPr>
          <p:nvPr/>
        </p:nvPicPr>
        <p:blipFill>
          <a:blip r:embed="rId5"/>
          <a:stretch>
            <a:fillRect/>
          </a:stretch>
        </p:blipFill>
        <p:spPr>
          <a:xfrm>
            <a:off x="982980" y="4869180"/>
            <a:ext cx="320040" cy="320040"/>
          </a:xfrm>
          <a:prstGeom prst="rect">
            <a:avLst/>
          </a:prstGeom>
        </p:spPr>
      </p:pic>
      <p:sp>
        <p:nvSpPr>
          <p:cNvPr id="26" name="OLSR overhead title"/>
          <p:cNvSpPr txBox="1"/>
          <p:nvPr/>
        </p:nvSpPr>
        <p:spPr>
          <a:xfrm>
            <a:off x="1691640" y="4572000"/>
            <a:ext cx="4023360" cy="411480"/>
          </a:xfrm>
          <a:prstGeom prst="rect">
            <a:avLst/>
          </a:prstGeom>
          <a:noFill/>
          <a:ln/>
        </p:spPr>
        <p:txBody>
          <a:bodyPr wrap="square" lIns="0" tIns="0" rIns="0" bIns="0" rtlCol="0" anchor="t"/>
          <a:lstStyle/>
          <a:p>
            <a:pPr indent="0" marL="0">
              <a:buNone/>
            </a:pPr>
            <a:r>
              <a:rPr lang="en-US" sz="1800" b="1" dirty="0">
                <a:solidFill>
                  <a:schemeClr val="tx2"/>
                </a:solidFill>
              </a:rPr>
              <a:t>OLSR overhead</a:t>
            </a:r>
            <a:endParaRPr lang="en-US" sz="1800" dirty="0"/>
          </a:p>
        </p:txBody>
      </p:sp>
      <p:sp>
        <p:nvSpPr>
          <p:cNvPr id="27" name="OLSR overhead text"/>
          <p:cNvSpPr txBox="1"/>
          <p:nvPr/>
        </p:nvSpPr>
        <p:spPr>
          <a:xfrm>
            <a:off x="1691640" y="4983480"/>
            <a:ext cx="4023360" cy="548640"/>
          </a:xfrm>
          <a:prstGeom prst="rect">
            <a:avLst/>
          </a:prstGeom>
          <a:noFill/>
          <a:ln/>
        </p:spPr>
        <p:txBody>
          <a:bodyPr wrap="square" lIns="0" tIns="0" rIns="0" bIns="0" rtlCol="0" anchor="t"/>
          <a:lstStyle/>
          <a:p>
            <a:pPr indent="0" marL="0">
              <a:buNone/>
            </a:pPr>
            <a:r>
              <a:rPr lang="en-US" sz="1500" dirty="0">
                <a:solidFill>
                  <a:schemeClr val="tx1"/>
                </a:solidFill>
              </a:rPr>
              <a:t>Matches N × 30 HELLOs (every 2 s) plus TC messages</a:t>
            </a:r>
            <a:endParaRPr lang="en-US" sz="1500" dirty="0"/>
          </a:p>
        </p:txBody>
      </p:sp>
      <p:sp>
        <p:nvSpPr>
          <p:cNvPr id="28" name="check Source drops card"/>
          <p:cNvSpPr/>
          <p:nvPr/>
        </p:nvSpPr>
        <p:spPr>
          <a:xfrm>
            <a:off x="6217920" y="4389120"/>
            <a:ext cx="5394960" cy="1280160"/>
          </a:xfrm>
          <a:prstGeom prst="roundRect">
            <a:avLst>
              <a:gd name="adj" fmla="val 8571"/>
            </a:avLst>
          </a:prstGeom>
          <a:solidFill>
            <a:schemeClr val="bg2"/>
          </a:solidFill>
          <a:ln/>
        </p:spPr>
      </p:sp>
      <p:sp>
        <p:nvSpPr>
          <p:cNvPr id="29" name="Source drops circle"/>
          <p:cNvSpPr/>
          <p:nvPr/>
        </p:nvSpPr>
        <p:spPr>
          <a:xfrm>
            <a:off x="6492240" y="4709160"/>
            <a:ext cx="640080" cy="640080"/>
          </a:xfrm>
          <a:prstGeom prst="ellipse">
            <a:avLst/>
          </a:prstGeom>
          <a:solidFill>
            <a:schemeClr val="accent3"/>
          </a:solidFill>
          <a:ln/>
        </p:spPr>
      </p:sp>
      <p:pic>
        <p:nvPicPr>
          <p:cNvPr id="30" name="Source drops icon" descr="preencoded.png">    </p:cNvPr>
          <p:cNvPicPr>
            <a:picLocks noChangeAspect="1"/>
          </p:cNvPicPr>
          <p:nvPr/>
        </p:nvPicPr>
        <p:blipFill>
          <a:blip r:embed="rId6"/>
          <a:stretch>
            <a:fillRect/>
          </a:stretch>
        </p:blipFill>
        <p:spPr>
          <a:xfrm>
            <a:off x="6652260" y="4869180"/>
            <a:ext cx="320040" cy="320040"/>
          </a:xfrm>
          <a:prstGeom prst="rect">
            <a:avLst/>
          </a:prstGeom>
        </p:spPr>
      </p:pic>
      <p:sp>
        <p:nvSpPr>
          <p:cNvPr id="31" name="Source drops title"/>
          <p:cNvSpPr txBox="1"/>
          <p:nvPr/>
        </p:nvSpPr>
        <p:spPr>
          <a:xfrm>
            <a:off x="7360920" y="4572000"/>
            <a:ext cx="4023360" cy="411480"/>
          </a:xfrm>
          <a:prstGeom prst="rect">
            <a:avLst/>
          </a:prstGeom>
          <a:noFill/>
          <a:ln/>
        </p:spPr>
        <p:txBody>
          <a:bodyPr wrap="square" lIns="0" tIns="0" rIns="0" bIns="0" rtlCol="0" anchor="t"/>
          <a:lstStyle/>
          <a:p>
            <a:pPr indent="0" marL="0">
              <a:buNone/>
            </a:pPr>
            <a:r>
              <a:rPr lang="en-US" sz="1800" b="1" dirty="0">
                <a:solidFill>
                  <a:schemeClr val="tx2"/>
                </a:solidFill>
              </a:rPr>
              <a:t>Source drops</a:t>
            </a:r>
            <a:endParaRPr lang="en-US" sz="1800" dirty="0"/>
          </a:p>
        </p:txBody>
      </p:sp>
      <p:sp>
        <p:nvSpPr>
          <p:cNvPr id="32" name="Source drops text"/>
          <p:cNvSpPr txBox="1"/>
          <p:nvPr/>
        </p:nvSpPr>
        <p:spPr>
          <a:xfrm>
            <a:off x="7360920" y="4983480"/>
            <a:ext cx="4023360" cy="548640"/>
          </a:xfrm>
          <a:prstGeom prst="rect">
            <a:avLst/>
          </a:prstGeom>
          <a:noFill/>
          <a:ln/>
        </p:spPr>
        <p:txBody>
          <a:bodyPr wrap="square" lIns="0" tIns="0" rIns="0" bIns="0" rtlCol="0" anchor="t"/>
          <a:lstStyle/>
          <a:p>
            <a:pPr indent="0" marL="0">
              <a:buNone/>
            </a:pPr>
            <a:r>
              <a:rPr lang="en-US" sz="1500" dirty="0">
                <a:solidFill>
                  <a:schemeClr val="tx1"/>
                </a:solidFill>
              </a:rPr>
              <a:t>0 for AODV and DSDV, which buffer packets</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bg1"/>
                </a:solidFill>
              </a:rPr>
              <a:t>Conclusion and future work</a:t>
            </a:r>
            <a:endParaRPr lang="en-US" sz="3400" dirty="0"/>
          </a:p>
        </p:txBody>
      </p:sp>
      <p:sp>
        <p:nvSpPr>
          <p:cNvPr id="3" name="findings heading"/>
          <p:cNvSpPr txBox="1"/>
          <p:nvPr/>
        </p:nvSpPr>
        <p:spPr>
          <a:xfrm>
            <a:off x="548640" y="1371600"/>
            <a:ext cx="5303520" cy="457200"/>
          </a:xfrm>
          <a:prstGeom prst="rect">
            <a:avLst/>
          </a:prstGeom>
          <a:noFill/>
          <a:ln/>
        </p:spPr>
        <p:txBody>
          <a:bodyPr wrap="square" lIns="0" tIns="0" rIns="0" bIns="0" rtlCol="0" anchor="t"/>
          <a:lstStyle/>
          <a:p>
            <a:pPr indent="0" marL="0">
              <a:buNone/>
            </a:pPr>
            <a:r>
              <a:rPr lang="en-US" sz="2200" b="1" dirty="0">
                <a:solidFill>
                  <a:schemeClr val="accent6"/>
                </a:solidFill>
                <a:latin typeface="Cambria" pitchFamily="34" charset="0"/>
                <a:ea typeface="Cambria" pitchFamily="34" charset="-122"/>
                <a:cs typeface="Cambria" pitchFamily="34" charset="-120"/>
              </a:rPr>
              <a:t>Findings</a:t>
            </a:r>
            <a:endParaRPr lang="en-US" sz="2200" dirty="0"/>
          </a:p>
        </p:txBody>
      </p:sp>
      <p:sp>
        <p:nvSpPr>
          <p:cNvPr id="4" name="findings"/>
          <p:cNvSpPr txBox="1"/>
          <p:nvPr/>
        </p:nvSpPr>
        <p:spPr>
          <a:xfrm>
            <a:off x="548640" y="1965960"/>
            <a:ext cx="5303520" cy="384048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bg1"/>
                </a:solidFill>
              </a:rPr>
              <a:t>AODV delivered the most packets: 77.9% vs 66.2% (OLSR) and 65.0% (DSDV)</a:t>
            </a:r>
            <a:endParaRPr lang="en-US" sz="1700" dirty="0"/>
          </a:p>
          <a:p>
            <a:pPr marL="342900" indent="-342900">
              <a:spcAft>
                <a:spcPts val="1200"/>
              </a:spcAft>
              <a:buSzPct val="100000"/>
              <a:buChar char="•"/>
            </a:pPr>
            <a:r>
              <a:rPr lang="en-US" sz="1700" dirty="0">
                <a:solidFill>
                  <a:schemeClr val="bg1"/>
                </a:solidFill>
              </a:rPr>
              <a:t>Its advantage is largest under mobility: 75% vs about 50% at 15 m/s</a:t>
            </a:r>
            <a:endParaRPr lang="en-US" sz="1700" dirty="0"/>
          </a:p>
          <a:p>
            <a:pPr marL="342900" indent="-342900">
              <a:spcAft>
                <a:spcPts val="1200"/>
              </a:spcAft>
              <a:buSzPct val="100000"/>
              <a:buChar char="•"/>
            </a:pPr>
            <a:r>
              <a:rPr lang="en-US" sz="1700" dirty="0">
                <a:solidFill>
                  <a:schemeClr val="bg1"/>
                </a:solidFill>
              </a:rPr>
              <a:t>The cost is about twice the routing overhead and a higher delay</a:t>
            </a:r>
            <a:endParaRPr lang="en-US" sz="1700" dirty="0"/>
          </a:p>
          <a:p>
            <a:pPr marL="342900" indent="-342900">
              <a:spcAft>
                <a:spcPts val="1200"/>
              </a:spcAft>
              <a:buSzPct val="100000"/>
              <a:buChar char="•"/>
            </a:pPr>
            <a:r>
              <a:rPr lang="en-US" sz="1700" dirty="0">
                <a:solidFill>
                  <a:schemeClr val="bg1"/>
                </a:solidFill>
              </a:rPr>
              <a:t>Single runs ranged from 0% to 100%: repeated, paired runs are essential</a:t>
            </a:r>
            <a:endParaRPr lang="en-US" sz="1700" dirty="0"/>
          </a:p>
        </p:txBody>
      </p:sp>
      <p:sp>
        <p:nvSpPr>
          <p:cNvPr id="5" name="future heading"/>
          <p:cNvSpPr txBox="1"/>
          <p:nvPr/>
        </p:nvSpPr>
        <p:spPr>
          <a:xfrm>
            <a:off x="6355080" y="1371600"/>
            <a:ext cx="5303520" cy="457200"/>
          </a:xfrm>
          <a:prstGeom prst="rect">
            <a:avLst/>
          </a:prstGeom>
          <a:noFill/>
          <a:ln/>
        </p:spPr>
        <p:txBody>
          <a:bodyPr wrap="square" lIns="0" tIns="0" rIns="0" bIns="0" rtlCol="0" anchor="t"/>
          <a:lstStyle/>
          <a:p>
            <a:pPr indent="0" marL="0">
              <a:buNone/>
            </a:pPr>
            <a:r>
              <a:rPr lang="en-US" sz="2200" b="1" dirty="0">
                <a:solidFill>
                  <a:schemeClr val="accent6"/>
                </a:solidFill>
                <a:latin typeface="Cambria" pitchFamily="34" charset="0"/>
                <a:ea typeface="Cambria" pitchFamily="34" charset="-122"/>
                <a:cs typeface="Cambria" pitchFamily="34" charset="-120"/>
              </a:rPr>
              <a:t>Future work</a:t>
            </a:r>
            <a:endParaRPr lang="en-US" sz="2200" dirty="0"/>
          </a:p>
        </p:txBody>
      </p:sp>
      <p:sp>
        <p:nvSpPr>
          <p:cNvPr id="6" name="future work"/>
          <p:cNvSpPr txBox="1"/>
          <p:nvPr/>
        </p:nvSpPr>
        <p:spPr>
          <a:xfrm>
            <a:off x="6355080" y="1965960"/>
            <a:ext cx="5303520" cy="384048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bg1"/>
                </a:solidFill>
              </a:rPr>
              <a:t>Tune protocol timers and add a warm-up period</a:t>
            </a:r>
            <a:endParaRPr lang="en-US" sz="1700" dirty="0"/>
          </a:p>
          <a:p>
            <a:pPr marL="342900" indent="-342900">
              <a:spcAft>
                <a:spcPts val="1200"/>
              </a:spcAft>
              <a:buSzPct val="100000"/>
              <a:buChar char="•"/>
            </a:pPr>
            <a:r>
              <a:rPr lang="en-US" sz="1700" dirty="0">
                <a:solidFill>
                  <a:schemeClr val="bg1"/>
                </a:solidFill>
              </a:rPr>
              <a:t>More concurrent flows and TCP traffic</a:t>
            </a:r>
            <a:endParaRPr lang="en-US" sz="1700" dirty="0"/>
          </a:p>
          <a:p>
            <a:pPr marL="342900" indent="-342900">
              <a:spcAft>
                <a:spcPts val="1200"/>
              </a:spcAft>
              <a:buSzPct val="100000"/>
              <a:buChar char="•"/>
            </a:pPr>
            <a:r>
              <a:rPr lang="en-US" sz="1700" dirty="0">
                <a:solidFill>
                  <a:schemeClr val="bg1"/>
                </a:solidFill>
              </a:rPr>
              <a:t>More runs per setting and a fading radio model</a:t>
            </a:r>
            <a:endParaRPr lang="en-US" sz="1700" dirty="0"/>
          </a:p>
          <a:p>
            <a:pPr marL="342900" indent="-342900">
              <a:spcAft>
                <a:spcPts val="1200"/>
              </a:spcAft>
              <a:buSzPct val="100000"/>
              <a:buChar char="•"/>
            </a:pPr>
            <a:r>
              <a:rPr lang="en-US" sz="1700" dirty="0">
                <a:solidFill>
                  <a:schemeClr val="bg1"/>
                </a:solidFill>
              </a:rPr>
              <a:t>Energy use and black hole attack resilience</a:t>
            </a:r>
            <a:endParaRPr lang="en-US" sz="1700" dirty="0"/>
          </a:p>
        </p:txBody>
      </p:sp>
      <p:sp>
        <p:nvSpPr>
          <p:cNvPr id="7" name="thanks"/>
          <p:cNvSpPr txBox="1"/>
          <p:nvPr/>
        </p:nvSpPr>
        <p:spPr>
          <a:xfrm>
            <a:off x="548640" y="5715000"/>
            <a:ext cx="7315200" cy="457200"/>
          </a:xfrm>
          <a:prstGeom prst="rect">
            <a:avLst/>
          </a:prstGeom>
          <a:noFill/>
          <a:ln/>
        </p:spPr>
        <p:txBody>
          <a:bodyPr wrap="square" lIns="0" tIns="0" rIns="0" bIns="0" rtlCol="0" anchor="t"/>
          <a:lstStyle/>
          <a:p>
            <a:pPr indent="0" marL="0">
              <a:buNone/>
            </a:pPr>
            <a:r>
              <a:rPr lang="en-US" sz="2000" i="1" dirty="0">
                <a:solidFill>
                  <a:schemeClr val="bg2"/>
                </a:solidFill>
              </a:rPr>
              <a:t>Thank you — questions?</a:t>
            </a:r>
            <a:endParaRPr lang="en-US" sz="2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MANET Routing">
  <a:themeElements>
    <a:clrScheme name="MANET Routing">
      <a:dk1>
        <a:srgbClr val="1B2230"/>
      </a:dk1>
      <a:lt1>
        <a:srgbClr val="FFFFFF"/>
      </a:lt1>
      <a:dk2>
        <a:srgbClr val="0E2A47"/>
      </a:dk2>
      <a:lt2>
        <a:srgbClr val="EEF3F8"/>
      </a:lt2>
      <a:accent1>
        <a:srgbClr val="1F4E9C"/>
      </a:accent1>
      <a:accent2>
        <a:srgbClr val="C8611B"/>
      </a:accent2>
      <a:accent3>
        <a:srgbClr val="2E8B57"/>
      </a:accent3>
      <a:accent4>
        <a:srgbClr val="D6362E"/>
      </a:accent4>
      <a:accent5>
        <a:srgbClr val="5E6B7E"/>
      </a:accent5>
      <a:accent6>
        <a:srgbClr val="E3A72F"/>
      </a:accent6>
      <a:hlink>
        <a:srgbClr val="1F4E9C"/>
      </a:hlink>
      <a:folHlink>
        <a:srgbClr val="5E6B7E"/>
      </a:folHlink>
    </a:clrScheme>
    <a:fontScheme name="MANET Rou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BMS College of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Analysis of AODV in a MANET Using NS-3</dc:title>
  <dc:subject>PptxGenJS Presentation</dc:subject>
  <dc:creator>Team 11</dc:creator>
  <cp:lastModifiedBy>Team 11</cp:lastModifiedBy>
  <cp:revision>1</cp:revision>
  <dcterms:created xsi:type="dcterms:W3CDTF">2026-10-30T15:44:23Z</dcterms:created>
  <dcterms:modified xsi:type="dcterms:W3CDTF">2026-10-30T15:44:23Z</dcterms:modified>
</cp:coreProperties>
</file>